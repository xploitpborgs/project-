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9692640" y="-1188720"/>
            <a:ext cx="5029200" cy="5029200"/>
          </a:xfrm>
          <a:prstGeom prst="ellipse">
            <a:avLst/>
          </a:prstGeom>
          <a:solidFill>
            <a:srgbClr val="17304F"/>
          </a:solidFill>
          <a:ln/>
        </p:spPr>
      </p:sp>
      <p:sp>
        <p:nvSpPr>
          <p:cNvPr id="3" name="Shape 1"/>
          <p:cNvSpPr/>
          <p:nvPr/>
        </p:nvSpPr>
        <p:spPr>
          <a:xfrm>
            <a:off x="-1645920" y="4663440"/>
            <a:ext cx="3840480" cy="3840480"/>
          </a:xfrm>
          <a:prstGeom prst="ellipse">
            <a:avLst/>
          </a:prstGeom>
          <a:solidFill>
            <a:srgbClr val="17304F"/>
          </a:solidFill>
          <a:ln/>
        </p:spPr>
      </p:sp>
      <p:sp>
        <p:nvSpPr>
          <p:cNvPr id="4" name="Shape 2"/>
          <p:cNvSpPr/>
          <p:nvPr/>
        </p:nvSpPr>
        <p:spPr>
          <a:xfrm>
            <a:off x="548640" y="502920"/>
            <a:ext cx="777240" cy="777240"/>
          </a:xfrm>
          <a:prstGeom prst="ellipse">
            <a:avLst/>
          </a:prstGeom>
          <a:solidFill>
            <a:srgbClr val="0E7C86"/>
          </a:solidFill>
          <a:ln/>
        </p:spPr>
      </p:sp>
      <p:pic>
        <p:nvPicPr>
          <p:cNvPr id="5" name="Image 0" descr="/home/claude/soc_course/build/icons/radar_white.png">    </p:cNvPr>
          <p:cNvPicPr>
            <a:picLocks noChangeAspect="1"/>
          </p:cNvPicPr>
          <p:nvPr/>
        </p:nvPicPr>
        <p:blipFill>
          <a:blip r:embed="rId1"/>
          <a:stretch>
            <a:fillRect/>
          </a:stretch>
        </p:blipFill>
        <p:spPr>
          <a:xfrm>
            <a:off x="735178" y="689458"/>
            <a:ext cx="404165" cy="404165"/>
          </a:xfrm>
          <a:prstGeom prst="rect">
            <a:avLst/>
          </a:prstGeom>
        </p:spPr>
      </p:pic>
      <p:sp>
        <p:nvSpPr>
          <p:cNvPr id="6" name="Text 3"/>
          <p:cNvSpPr txBox="1"/>
          <p:nvPr/>
        </p:nvSpPr>
        <p:spPr>
          <a:xfrm>
            <a:off x="1508760" y="566928"/>
            <a:ext cx="7315200" cy="365760"/>
          </a:xfrm>
          <a:prstGeom prst="rect">
            <a:avLst/>
          </a:prstGeom>
          <a:noFill/>
          <a:ln/>
        </p:spPr>
        <p:txBody>
          <a:bodyPr wrap="square" lIns="0" tIns="0" rIns="0" bIns="0" rtlCol="0" anchor="ctr"/>
          <a:lstStyle/>
          <a:p>
            <a:pPr indent="0" marL="0">
              <a:buNone/>
            </a:pPr>
            <a:r>
              <a:rPr lang="en-US" sz="1400" b="1" spc="200" kern="0" dirty="0">
                <a:solidFill>
                  <a:srgbClr val="B9D4D7"/>
                </a:solidFill>
                <a:latin typeface="Calibri" pitchFamily="34" charset="0"/>
                <a:ea typeface="Calibri" pitchFamily="34" charset="-122"/>
                <a:cs typeface="Calibri" pitchFamily="34" charset="-120"/>
              </a:rPr>
              <a:t>SOC ANALYST BOOTCAMP</a:t>
            </a:r>
            <a:endParaRPr lang="en-US" sz="1400" dirty="0"/>
          </a:p>
        </p:txBody>
      </p:sp>
      <p:sp>
        <p:nvSpPr>
          <p:cNvPr id="7" name="Text 4"/>
          <p:cNvSpPr txBox="1"/>
          <p:nvPr/>
        </p:nvSpPr>
        <p:spPr>
          <a:xfrm>
            <a:off x="548640" y="2240280"/>
            <a:ext cx="10515600" cy="548640"/>
          </a:xfrm>
          <a:prstGeom prst="rect">
            <a:avLst/>
          </a:prstGeom>
          <a:noFill/>
          <a:ln/>
        </p:spPr>
        <p:txBody>
          <a:bodyPr wrap="square" lIns="0" tIns="0" rIns="0" bIns="0" rtlCol="0" anchor="ctr"/>
          <a:lstStyle/>
          <a:p>
            <a:pPr indent="0" marL="0">
              <a:buNone/>
            </a:pPr>
            <a:r>
              <a:rPr lang="en-US" sz="2600" b="1" dirty="0">
                <a:solidFill>
                  <a:srgbClr val="D9822B"/>
                </a:solidFill>
                <a:latin typeface="Cambria" pitchFamily="34" charset="0"/>
                <a:ea typeface="Cambria" pitchFamily="34" charset="-122"/>
                <a:cs typeface="Cambria" pitchFamily="34" charset="-120"/>
              </a:rPr>
              <a:t>Module 4  ·  Companion Lab</a:t>
            </a:r>
            <a:endParaRPr lang="en-US" sz="2600" dirty="0"/>
          </a:p>
        </p:txBody>
      </p:sp>
      <p:sp>
        <p:nvSpPr>
          <p:cNvPr id="8" name="Text 5"/>
          <p:cNvSpPr txBox="1"/>
          <p:nvPr/>
        </p:nvSpPr>
        <p:spPr>
          <a:xfrm>
            <a:off x="548640" y="2834640"/>
            <a:ext cx="1078992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Detecting a Port Scan with UFW Logs</a:t>
            </a:r>
            <a:endParaRPr lang="en-US" sz="4200" dirty="0"/>
          </a:p>
        </p:txBody>
      </p:sp>
      <p:sp>
        <p:nvSpPr>
          <p:cNvPr id="9" name="Text 6"/>
          <p:cNvSpPr txBox="1"/>
          <p:nvPr/>
        </p:nvSpPr>
        <p:spPr>
          <a:xfrm>
            <a:off x="548640" y="3977640"/>
            <a:ext cx="10789920" cy="822960"/>
          </a:xfrm>
          <a:prstGeom prst="rect">
            <a:avLst/>
          </a:prstGeom>
          <a:noFill/>
          <a:ln/>
        </p:spPr>
        <p:txBody>
          <a:bodyPr wrap="square" lIns="0" tIns="0" rIns="0" bIns="0" rtlCol="0" anchor="t"/>
          <a:lstStyle/>
          <a:p>
            <a:pPr indent="0" marL="0">
              <a:buNone/>
            </a:pPr>
            <a:r>
              <a:rPr lang="en-US" sz="1700" dirty="0">
                <a:solidFill>
                  <a:srgbClr val="D7E4E8"/>
                </a:solidFill>
                <a:latin typeface="Calibri" pitchFamily="34" charset="0"/>
                <a:ea typeface="Calibri" pitchFamily="34" charset="-122"/>
                <a:cs typeface="Calibri" pitchFamily="34" charset="-120"/>
              </a:rPr>
              <a:t>Attack with nmap from Kali  ·  Block and log with UFW on Ubuntu  ·  Prove it from the log file</a:t>
            </a:r>
            <a:endParaRPr lang="en-US" sz="1700" dirty="0"/>
          </a:p>
        </p:txBody>
      </p:sp>
      <p:sp>
        <p:nvSpPr>
          <p:cNvPr id="10" name="Shape 7"/>
          <p:cNvSpPr/>
          <p:nvPr/>
        </p:nvSpPr>
        <p:spPr>
          <a:xfrm>
            <a:off x="548640" y="5669280"/>
            <a:ext cx="1225296" cy="457200"/>
          </a:xfrm>
          <a:prstGeom prst="roundRect">
            <a:avLst>
              <a:gd name="adj" fmla="val 16000"/>
            </a:avLst>
          </a:prstGeom>
          <a:solidFill>
            <a:srgbClr val="17304F"/>
          </a:solidFill>
          <a:ln w="9525">
            <a:solidFill>
              <a:srgbClr val="2C4A6E"/>
            </a:solidFill>
            <a:prstDash val="solid"/>
          </a:ln>
        </p:spPr>
      </p:sp>
      <p:sp>
        <p:nvSpPr>
          <p:cNvPr id="11" name="Text 8"/>
          <p:cNvSpPr txBox="1"/>
          <p:nvPr/>
        </p:nvSpPr>
        <p:spPr>
          <a:xfrm>
            <a:off x="548640" y="5669280"/>
            <a:ext cx="1225296" cy="457200"/>
          </a:xfrm>
          <a:prstGeom prst="rect">
            <a:avLst/>
          </a:prstGeom>
          <a:noFill/>
          <a:ln/>
        </p:spPr>
        <p:txBody>
          <a:bodyPr wrap="square" lIns="0" tIns="0" rIns="0" bIns="0" rtlCol="0" anchor="ctr"/>
          <a:lstStyle/>
          <a:p>
            <a:pPr algn="ctr" indent="0" marL="0">
              <a:buNone/>
            </a:pPr>
            <a:r>
              <a:rPr lang="en-US" sz="1200" dirty="0">
                <a:solidFill>
                  <a:srgbClr val="D7E4E8"/>
                </a:solidFill>
                <a:latin typeface="Calibri" pitchFamily="34" charset="0"/>
                <a:ea typeface="Calibri" pitchFamily="34" charset="-122"/>
                <a:cs typeface="Calibri" pitchFamily="34" charset="-120"/>
              </a:rPr>
              <a:t>Concepts</a:t>
            </a:r>
            <a:endParaRPr lang="en-US" sz="1200" dirty="0"/>
          </a:p>
        </p:txBody>
      </p:sp>
      <p:sp>
        <p:nvSpPr>
          <p:cNvPr id="12" name="Shape 9"/>
          <p:cNvSpPr/>
          <p:nvPr/>
        </p:nvSpPr>
        <p:spPr>
          <a:xfrm>
            <a:off x="1956816" y="5669280"/>
            <a:ext cx="1417320" cy="457200"/>
          </a:xfrm>
          <a:prstGeom prst="roundRect">
            <a:avLst>
              <a:gd name="adj" fmla="val 16000"/>
            </a:avLst>
          </a:prstGeom>
          <a:solidFill>
            <a:srgbClr val="17304F"/>
          </a:solidFill>
          <a:ln w="9525">
            <a:solidFill>
              <a:srgbClr val="2C4A6E"/>
            </a:solidFill>
            <a:prstDash val="solid"/>
          </a:ln>
        </p:spPr>
      </p:sp>
      <p:sp>
        <p:nvSpPr>
          <p:cNvPr id="13" name="Text 10"/>
          <p:cNvSpPr txBox="1"/>
          <p:nvPr/>
        </p:nvSpPr>
        <p:spPr>
          <a:xfrm>
            <a:off x="1956816" y="5669280"/>
            <a:ext cx="1417320" cy="457200"/>
          </a:xfrm>
          <a:prstGeom prst="rect">
            <a:avLst/>
          </a:prstGeom>
          <a:noFill/>
          <a:ln/>
        </p:spPr>
        <p:txBody>
          <a:bodyPr wrap="square" lIns="0" tIns="0" rIns="0" bIns="0" rtlCol="0" anchor="ctr"/>
          <a:lstStyle/>
          <a:p>
            <a:pPr algn="ctr" indent="0" marL="0">
              <a:buNone/>
            </a:pPr>
            <a:r>
              <a:rPr lang="en-US" sz="1200" dirty="0">
                <a:solidFill>
                  <a:srgbClr val="D7E4E8"/>
                </a:solidFill>
                <a:latin typeface="Calibri" pitchFamily="34" charset="0"/>
                <a:ea typeface="Calibri" pitchFamily="34" charset="-122"/>
                <a:cs typeface="Calibri" pitchFamily="34" charset="-120"/>
              </a:rPr>
              <a:t>Assignment</a:t>
            </a:r>
            <a:endParaRPr lang="en-US" sz="1200" dirty="0"/>
          </a:p>
        </p:txBody>
      </p:sp>
      <p:sp>
        <p:nvSpPr>
          <p:cNvPr id="14" name="Shape 11"/>
          <p:cNvSpPr/>
          <p:nvPr/>
        </p:nvSpPr>
        <p:spPr>
          <a:xfrm>
            <a:off x="3557016" y="5669280"/>
            <a:ext cx="2761488" cy="457200"/>
          </a:xfrm>
          <a:prstGeom prst="roundRect">
            <a:avLst>
              <a:gd name="adj" fmla="val 16000"/>
            </a:avLst>
          </a:prstGeom>
          <a:solidFill>
            <a:srgbClr val="17304F"/>
          </a:solidFill>
          <a:ln w="9525">
            <a:solidFill>
              <a:srgbClr val="2C4A6E"/>
            </a:solidFill>
            <a:prstDash val="solid"/>
          </a:ln>
        </p:spPr>
      </p:sp>
      <p:sp>
        <p:nvSpPr>
          <p:cNvPr id="15" name="Text 12"/>
          <p:cNvSpPr txBox="1"/>
          <p:nvPr/>
        </p:nvSpPr>
        <p:spPr>
          <a:xfrm>
            <a:off x="3557016" y="5669280"/>
            <a:ext cx="2761488" cy="457200"/>
          </a:xfrm>
          <a:prstGeom prst="rect">
            <a:avLst/>
          </a:prstGeom>
          <a:noFill/>
          <a:ln/>
        </p:spPr>
        <p:txBody>
          <a:bodyPr wrap="square" lIns="0" tIns="0" rIns="0" bIns="0" rtlCol="0" anchor="ctr"/>
          <a:lstStyle/>
          <a:p>
            <a:pPr algn="ctr" indent="0" marL="0">
              <a:buNone/>
            </a:pPr>
            <a:r>
              <a:rPr lang="en-US" sz="1200" dirty="0">
                <a:solidFill>
                  <a:srgbClr val="D7E4E8"/>
                </a:solidFill>
                <a:latin typeface="Calibri" pitchFamily="34" charset="0"/>
                <a:ea typeface="Calibri" pitchFamily="34" charset="-122"/>
                <a:cs typeface="Calibri" pitchFamily="34" charset="-120"/>
              </a:rPr>
              <a:t>Step-by-step walkthrough</a:t>
            </a:r>
            <a:endParaRPr lang="en-US" sz="1200" dirty="0"/>
          </a:p>
        </p:txBody>
      </p:sp>
      <p:sp>
        <p:nvSpPr>
          <p:cNvPr id="16" name="Shape 13"/>
          <p:cNvSpPr/>
          <p:nvPr/>
        </p:nvSpPr>
        <p:spPr>
          <a:xfrm>
            <a:off x="6501384" y="5669280"/>
            <a:ext cx="1897380" cy="457200"/>
          </a:xfrm>
          <a:prstGeom prst="roundRect">
            <a:avLst>
              <a:gd name="adj" fmla="val 16000"/>
            </a:avLst>
          </a:prstGeom>
          <a:solidFill>
            <a:srgbClr val="17304F"/>
          </a:solidFill>
          <a:ln w="9525">
            <a:solidFill>
              <a:srgbClr val="2C4A6E"/>
            </a:solidFill>
            <a:prstDash val="solid"/>
          </a:ln>
        </p:spPr>
      </p:sp>
      <p:sp>
        <p:nvSpPr>
          <p:cNvPr id="17" name="Text 14"/>
          <p:cNvSpPr txBox="1"/>
          <p:nvPr/>
        </p:nvSpPr>
        <p:spPr>
          <a:xfrm>
            <a:off x="6501384" y="5669280"/>
            <a:ext cx="1897380" cy="457200"/>
          </a:xfrm>
          <a:prstGeom prst="rect">
            <a:avLst/>
          </a:prstGeom>
          <a:noFill/>
          <a:ln/>
        </p:spPr>
        <p:txBody>
          <a:bodyPr wrap="square" lIns="0" tIns="0" rIns="0" bIns="0" rtlCol="0" anchor="ctr"/>
          <a:lstStyle/>
          <a:p>
            <a:pPr algn="ctr" indent="0" marL="0">
              <a:buNone/>
            </a:pPr>
            <a:r>
              <a:rPr lang="en-US" sz="1200" dirty="0">
                <a:solidFill>
                  <a:srgbClr val="D7E4E8"/>
                </a:solidFill>
                <a:latin typeface="Calibri" pitchFamily="34" charset="0"/>
                <a:ea typeface="Calibri" pitchFamily="34" charset="-122"/>
                <a:cs typeface="Calibri" pitchFamily="34" charset="-120"/>
              </a:rPr>
              <a:t>Troubleshooting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WHERE THIS LAB FITS</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One Scan, Seen Through Three Lenses</a:t>
            </a:r>
            <a:endParaRPr lang="en-US" sz="2800" dirty="0"/>
          </a:p>
        </p:txBody>
      </p:sp>
      <p:sp>
        <p:nvSpPr>
          <p:cNvPr id="4" name="Shape 2"/>
          <p:cNvSpPr/>
          <p:nvPr/>
        </p:nvSpPr>
        <p:spPr>
          <a:xfrm>
            <a:off x="502920" y="1645920"/>
            <a:ext cx="3520440" cy="3017520"/>
          </a:xfrm>
          <a:prstGeom prst="roundRect">
            <a:avLst>
              <a:gd name="adj" fmla="val 2424"/>
            </a:avLst>
          </a:prstGeom>
          <a:solidFill>
            <a:srgbClr val="EEF2F4"/>
          </a:solidFill>
          <a:ln w="12700">
            <a:solidFill>
              <a:srgbClr val="D7DEE3"/>
            </a:solidFill>
            <a:prstDash val="solid"/>
          </a:ln>
        </p:spPr>
      </p:sp>
      <p:sp>
        <p:nvSpPr>
          <p:cNvPr id="5" name="Text 3"/>
          <p:cNvSpPr txBox="1"/>
          <p:nvPr/>
        </p:nvSpPr>
        <p:spPr>
          <a:xfrm>
            <a:off x="685800" y="1828800"/>
            <a:ext cx="3154680" cy="411480"/>
          </a:xfrm>
          <a:prstGeom prst="rect">
            <a:avLst/>
          </a:prstGeom>
          <a:noFill/>
          <a:ln/>
        </p:spPr>
        <p:txBody>
          <a:bodyPr wrap="square" lIns="0" tIns="0" rIns="0" bIns="0" rtlCol="0" anchor="ctr"/>
          <a:lstStyle/>
          <a:p>
            <a:pPr indent="0" marL="0">
              <a:buNone/>
            </a:pPr>
            <a:r>
              <a:rPr lang="en-US" sz="1700" b="1" dirty="0">
                <a:solidFill>
                  <a:srgbClr val="0F2540"/>
                </a:solidFill>
                <a:latin typeface="Cambria" pitchFamily="34" charset="0"/>
                <a:ea typeface="Cambria" pitchFamily="34" charset="-122"/>
                <a:cs typeface="Cambria" pitchFamily="34" charset="-120"/>
              </a:rPr>
              <a:t>Module 3 — the attack</a:t>
            </a:r>
            <a:endParaRPr lang="en-US" sz="1700" dirty="0"/>
          </a:p>
        </p:txBody>
      </p:sp>
      <p:sp>
        <p:nvSpPr>
          <p:cNvPr id="6" name="Text 4"/>
          <p:cNvSpPr txBox="1"/>
          <p:nvPr/>
        </p:nvSpPr>
        <p:spPr>
          <a:xfrm>
            <a:off x="685800" y="2377440"/>
            <a:ext cx="3154680" cy="2103120"/>
          </a:xfrm>
          <a:prstGeom prst="rect">
            <a:avLst/>
          </a:prstGeom>
          <a:noFill/>
          <a:ln/>
        </p:spPr>
        <p:txBody>
          <a:bodyPr wrap="square" lIns="0" tIns="0" rIns="0" bIns="0" rtlCol="0" anchor="t"/>
          <a:lstStyle/>
          <a:p>
            <a:pPr indent="0" marL="0">
              <a:lnSpc>
                <a:spcPct val="110000"/>
              </a:lnSpc>
              <a:spcAft>
                <a:spcPts val="800"/>
              </a:spcAft>
              <a:buNone/>
            </a:pPr>
            <a:r>
              <a:rPr lang="en-US" sz="1350" dirty="0">
                <a:solidFill>
                  <a:srgbClr val="1A2733"/>
                </a:solidFill>
                <a:latin typeface="Calibri" pitchFamily="34" charset="0"/>
                <a:ea typeface="Calibri" pitchFamily="34" charset="-122"/>
                <a:cs typeface="Calibri" pitchFamily="34" charset="-120"/>
              </a:rPr>
              <a:t>Kill Chain stage 1: Reconnaissance.</a:t>
            </a:r>
            <a:endParaRPr lang="en-US" sz="1350" dirty="0"/>
          </a:p>
          <a:p>
            <a:pPr indent="0" marL="0">
              <a:lnSpc>
                <a:spcPct val="110000"/>
              </a:lnSpc>
              <a:spcAft>
                <a:spcPts val="800"/>
              </a:spcAft>
              <a:buNone/>
            </a:pPr>
            <a:r>
              <a:rPr lang="en-US" sz="1350" dirty="0">
                <a:solidFill>
                  <a:srgbClr val="1A2733"/>
                </a:solidFill>
                <a:latin typeface="Calibri" pitchFamily="34" charset="0"/>
                <a:ea typeface="Calibri" pitchFamily="34" charset="-122"/>
                <a:cs typeface="Calibri" pitchFamily="34" charset="-120"/>
              </a:rPr>
              <a:t>ATT&amp;CK: Active Scanning (T1595) from outside; Network Service Discovery (T1046) once inside.</a:t>
            </a:r>
            <a:endParaRPr lang="en-US" sz="1350" dirty="0"/>
          </a:p>
          <a:p>
            <a:pPr indent="0" marL="0">
              <a:lnSpc>
                <a:spcPct val="110000"/>
              </a:lnSpc>
              <a:spcAft>
                <a:spcPts val="800"/>
              </a:spcAft>
              <a:buNone/>
            </a:pPr>
            <a:r>
              <a:rPr lang="en-US" sz="1350" dirty="0">
                <a:solidFill>
                  <a:srgbClr val="1A2733"/>
                </a:solidFill>
                <a:latin typeface="Calibri" pitchFamily="34" charset="0"/>
                <a:ea typeface="Calibri" pitchFamily="34" charset="-122"/>
                <a:cs typeface="Calibri" pitchFamily="34" charset="-120"/>
              </a:rPr>
              <a:t>The attacker is mapping what is exposed.</a:t>
            </a:r>
            <a:endParaRPr lang="en-US" sz="1350" dirty="0"/>
          </a:p>
        </p:txBody>
      </p:sp>
      <p:sp>
        <p:nvSpPr>
          <p:cNvPr id="7" name="Shape 5"/>
          <p:cNvSpPr/>
          <p:nvPr/>
        </p:nvSpPr>
        <p:spPr>
          <a:xfrm>
            <a:off x="4297680" y="1645920"/>
            <a:ext cx="3520440" cy="3017520"/>
          </a:xfrm>
          <a:prstGeom prst="roundRect">
            <a:avLst>
              <a:gd name="adj" fmla="val 2424"/>
            </a:avLst>
          </a:prstGeom>
          <a:solidFill>
            <a:srgbClr val="0F2540"/>
          </a:solidFill>
          <a:ln w="25400">
            <a:solidFill>
              <a:srgbClr val="D9822B"/>
            </a:solidFill>
            <a:prstDash val="solid"/>
          </a:ln>
        </p:spPr>
      </p:sp>
      <p:sp>
        <p:nvSpPr>
          <p:cNvPr id="8" name="Text 6"/>
          <p:cNvSpPr txBox="1"/>
          <p:nvPr/>
        </p:nvSpPr>
        <p:spPr>
          <a:xfrm>
            <a:off x="4480560" y="1828800"/>
            <a:ext cx="31546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Module 4 — NSM triad</a:t>
            </a:r>
            <a:endParaRPr lang="en-US" sz="1700" dirty="0"/>
          </a:p>
        </p:txBody>
      </p:sp>
      <p:sp>
        <p:nvSpPr>
          <p:cNvPr id="9" name="Text 7"/>
          <p:cNvSpPr txBox="1"/>
          <p:nvPr/>
        </p:nvSpPr>
        <p:spPr>
          <a:xfrm>
            <a:off x="4480560" y="2377440"/>
            <a:ext cx="3154680" cy="2103120"/>
          </a:xfrm>
          <a:prstGeom prst="rect">
            <a:avLst/>
          </a:prstGeom>
          <a:noFill/>
          <a:ln/>
        </p:spPr>
        <p:txBody>
          <a:bodyPr wrap="square" lIns="0" tIns="0" rIns="0" bIns="0" rtlCol="0" anchor="t"/>
          <a:lstStyle/>
          <a:p>
            <a:pPr indent="0" marL="0">
              <a:lnSpc>
                <a:spcPct val="110000"/>
              </a:lnSpc>
              <a:spcAft>
                <a:spcPts val="800"/>
              </a:spcAft>
              <a:buNone/>
            </a:pPr>
            <a:r>
              <a:rPr lang="en-US" sz="1350" dirty="0">
                <a:solidFill>
                  <a:srgbClr val="D7E4E8"/>
                </a:solidFill>
                <a:latin typeface="Calibri" pitchFamily="34" charset="0"/>
                <a:ea typeface="Calibri" pitchFamily="34" charset="-122"/>
                <a:cs typeface="Calibri" pitchFamily="34" charset="-120"/>
              </a:rPr>
              <a:t>Packets: Wireshark sees every SYN probe.</a:t>
            </a:r>
            <a:endParaRPr lang="en-US" sz="1350" dirty="0"/>
          </a:p>
          <a:p>
            <a:pPr indent="0" marL="0">
              <a:lnSpc>
                <a:spcPct val="110000"/>
              </a:lnSpc>
              <a:spcAft>
                <a:spcPts val="800"/>
              </a:spcAft>
              <a:buNone/>
            </a:pPr>
            <a:r>
              <a:rPr lang="en-US" sz="1350" dirty="0">
                <a:solidFill>
                  <a:srgbClr val="D7E4E8"/>
                </a:solidFill>
                <a:latin typeface="Calibri" pitchFamily="34" charset="0"/>
                <a:ea typeface="Calibri" pitchFamily="34" charset="-122"/>
                <a:cs typeface="Calibri" pitchFamily="34" charset="-120"/>
              </a:rPr>
              <a:t>Flows: NetFlow shows one source touching many ports.</a:t>
            </a:r>
            <a:endParaRPr lang="en-US" sz="1350" dirty="0"/>
          </a:p>
          <a:p>
            <a:pPr indent="0" marL="0">
              <a:lnSpc>
                <a:spcPct val="110000"/>
              </a:lnSpc>
              <a:spcAft>
                <a:spcPts val="800"/>
              </a:spcAft>
              <a:buNone/>
            </a:pPr>
            <a:r>
              <a:rPr lang="en-US" sz="1350" dirty="0">
                <a:solidFill>
                  <a:srgbClr val="D7E4E8"/>
                </a:solidFill>
                <a:latin typeface="Calibri" pitchFamily="34" charset="0"/>
                <a:ea typeface="Calibri" pitchFamily="34" charset="-122"/>
                <a:cs typeface="Calibri" pitchFamily="34" charset="-120"/>
              </a:rPr>
              <a:t>Logs: the UFW log records what the firewall blocked.  ← THIS LAB</a:t>
            </a:r>
            <a:endParaRPr lang="en-US" sz="1350" dirty="0"/>
          </a:p>
        </p:txBody>
      </p:sp>
      <p:sp>
        <p:nvSpPr>
          <p:cNvPr id="10" name="Shape 8"/>
          <p:cNvSpPr/>
          <p:nvPr/>
        </p:nvSpPr>
        <p:spPr>
          <a:xfrm>
            <a:off x="8092440" y="1645920"/>
            <a:ext cx="3520440" cy="3017520"/>
          </a:xfrm>
          <a:prstGeom prst="roundRect">
            <a:avLst>
              <a:gd name="adj" fmla="val 2424"/>
            </a:avLst>
          </a:prstGeom>
          <a:solidFill>
            <a:srgbClr val="EEF2F4"/>
          </a:solidFill>
          <a:ln w="12700">
            <a:solidFill>
              <a:srgbClr val="D7DEE3"/>
            </a:solidFill>
            <a:prstDash val="solid"/>
          </a:ln>
        </p:spPr>
      </p:sp>
      <p:sp>
        <p:nvSpPr>
          <p:cNvPr id="11" name="Text 9"/>
          <p:cNvSpPr txBox="1"/>
          <p:nvPr/>
        </p:nvSpPr>
        <p:spPr>
          <a:xfrm>
            <a:off x="8275320" y="1828800"/>
            <a:ext cx="3154680" cy="411480"/>
          </a:xfrm>
          <a:prstGeom prst="rect">
            <a:avLst/>
          </a:prstGeom>
          <a:noFill/>
          <a:ln/>
        </p:spPr>
        <p:txBody>
          <a:bodyPr wrap="square" lIns="0" tIns="0" rIns="0" bIns="0" rtlCol="0" anchor="ctr"/>
          <a:lstStyle/>
          <a:p>
            <a:pPr indent="0" marL="0">
              <a:buNone/>
            </a:pPr>
            <a:r>
              <a:rPr lang="en-US" sz="1700" b="1" dirty="0">
                <a:solidFill>
                  <a:srgbClr val="0F2540"/>
                </a:solidFill>
                <a:latin typeface="Cambria" pitchFamily="34" charset="0"/>
                <a:ea typeface="Cambria" pitchFamily="34" charset="-122"/>
                <a:cs typeface="Cambria" pitchFamily="34" charset="-120"/>
              </a:rPr>
              <a:t>Module 4 — detection engines</a:t>
            </a:r>
            <a:endParaRPr lang="en-US" sz="1700" dirty="0"/>
          </a:p>
        </p:txBody>
      </p:sp>
      <p:sp>
        <p:nvSpPr>
          <p:cNvPr id="12" name="Text 10"/>
          <p:cNvSpPr txBox="1"/>
          <p:nvPr/>
        </p:nvSpPr>
        <p:spPr>
          <a:xfrm>
            <a:off x="8275320" y="2377440"/>
            <a:ext cx="3154680" cy="2103120"/>
          </a:xfrm>
          <a:prstGeom prst="rect">
            <a:avLst/>
          </a:prstGeom>
          <a:noFill/>
          <a:ln/>
        </p:spPr>
        <p:txBody>
          <a:bodyPr wrap="square" lIns="0" tIns="0" rIns="0" bIns="0" rtlCol="0" anchor="t"/>
          <a:lstStyle/>
          <a:p>
            <a:pPr indent="0" marL="0">
              <a:lnSpc>
                <a:spcPct val="110000"/>
              </a:lnSpc>
              <a:spcAft>
                <a:spcPts val="800"/>
              </a:spcAft>
              <a:buNone/>
            </a:pPr>
            <a:r>
              <a:rPr lang="en-US" sz="1350" dirty="0">
                <a:solidFill>
                  <a:srgbClr val="1A2733"/>
                </a:solidFill>
                <a:latin typeface="Calibri" pitchFamily="34" charset="0"/>
                <a:ea typeface="Calibri" pitchFamily="34" charset="-122"/>
                <a:cs typeface="Calibri" pitchFamily="34" charset="-120"/>
              </a:rPr>
              <a:t>Suricata and Snort raise alerts on scan patterns.</a:t>
            </a:r>
            <a:endParaRPr lang="en-US" sz="1350" dirty="0"/>
          </a:p>
          <a:p>
            <a:pPr indent="0" marL="0">
              <a:lnSpc>
                <a:spcPct val="110000"/>
              </a:lnSpc>
              <a:spcAft>
                <a:spcPts val="800"/>
              </a:spcAft>
              <a:buNone/>
            </a:pPr>
            <a:r>
              <a:rPr lang="en-US" sz="1350" dirty="0">
                <a:solidFill>
                  <a:srgbClr val="1A2733"/>
                </a:solidFill>
                <a:latin typeface="Calibri" pitchFamily="34" charset="0"/>
                <a:ea typeface="Calibri" pitchFamily="34" charset="-122"/>
                <a:cs typeface="Calibri" pitchFamily="34" charset="-120"/>
              </a:rPr>
              <a:t>Zeek writes connection logs you can hunt through.</a:t>
            </a:r>
            <a:endParaRPr lang="en-US" sz="1350" dirty="0"/>
          </a:p>
          <a:p>
            <a:pPr indent="0" marL="0">
              <a:lnSpc>
                <a:spcPct val="110000"/>
              </a:lnSpc>
              <a:spcAft>
                <a:spcPts val="800"/>
              </a:spcAft>
              <a:buNone/>
            </a:pPr>
            <a:r>
              <a:rPr lang="en-US" sz="1350" dirty="0">
                <a:solidFill>
                  <a:srgbClr val="1A2733"/>
                </a:solidFill>
                <a:latin typeface="Calibri" pitchFamily="34" charset="0"/>
                <a:ea typeface="Calibri" pitchFamily="34" charset="-122"/>
                <a:cs typeface="Calibri" pitchFamily="34" charset="-120"/>
              </a:rPr>
              <a:t>This lab is the host-level version of that same idea.</a:t>
            </a:r>
            <a:endParaRPr lang="en-US" sz="1350" dirty="0"/>
          </a:p>
        </p:txBody>
      </p:sp>
      <p:sp>
        <p:nvSpPr>
          <p:cNvPr id="13" name="Shape 11"/>
          <p:cNvSpPr/>
          <p:nvPr/>
        </p:nvSpPr>
        <p:spPr>
          <a:xfrm>
            <a:off x="502920" y="4937760"/>
            <a:ext cx="11201400" cy="1280160"/>
          </a:xfrm>
          <a:prstGeom prst="roundRect">
            <a:avLst>
              <a:gd name="adj" fmla="val 5714"/>
            </a:avLst>
          </a:prstGeom>
          <a:solidFill>
            <a:srgbClr val="E4F0F1"/>
          </a:solidFill>
          <a:ln/>
        </p:spPr>
      </p:sp>
      <p:sp>
        <p:nvSpPr>
          <p:cNvPr id="14" name="Shape 12"/>
          <p:cNvSpPr/>
          <p:nvPr/>
        </p:nvSpPr>
        <p:spPr>
          <a:xfrm>
            <a:off x="777240" y="5303520"/>
            <a:ext cx="566928" cy="566928"/>
          </a:xfrm>
          <a:prstGeom prst="ellipse">
            <a:avLst/>
          </a:prstGeom>
          <a:solidFill>
            <a:srgbClr val="0E7C86"/>
          </a:solidFill>
          <a:ln/>
        </p:spPr>
      </p:sp>
      <p:pic>
        <p:nvPicPr>
          <p:cNvPr id="15" name="Image 0" descr="/home/claude/soc_course/build/icons/eye_white.png">    </p:cNvPr>
          <p:cNvPicPr>
            <a:picLocks noChangeAspect="1"/>
          </p:cNvPicPr>
          <p:nvPr/>
        </p:nvPicPr>
        <p:blipFill>
          <a:blip r:embed="rId1"/>
          <a:stretch>
            <a:fillRect/>
          </a:stretch>
        </p:blipFill>
        <p:spPr>
          <a:xfrm>
            <a:off x="913303" y="5439583"/>
            <a:ext cx="294803" cy="294803"/>
          </a:xfrm>
          <a:prstGeom prst="rect">
            <a:avLst/>
          </a:prstGeom>
        </p:spPr>
      </p:pic>
      <p:sp>
        <p:nvSpPr>
          <p:cNvPr id="16" name="Text 13"/>
          <p:cNvSpPr txBox="1"/>
          <p:nvPr/>
        </p:nvSpPr>
        <p:spPr>
          <a:xfrm>
            <a:off x="1554480" y="5074920"/>
            <a:ext cx="9966960" cy="1005840"/>
          </a:xfrm>
          <a:prstGeom prst="rect">
            <a:avLst/>
          </a:prstGeom>
          <a:noFill/>
          <a:ln/>
        </p:spPr>
        <p:txBody>
          <a:bodyPr wrap="square" lIns="0" tIns="0" rIns="0" bIns="0" rtlCol="0" anchor="ctr"/>
          <a:lstStyle/>
          <a:p>
            <a:pPr indent="0" marL="0">
              <a:lnSpc>
                <a:spcPct val="112000"/>
              </a:lnSpc>
              <a:buNone/>
            </a:pPr>
            <a:r>
              <a:rPr lang="en-US" sz="1400" b="1" dirty="0">
                <a:solidFill>
                  <a:srgbClr val="0F2540"/>
                </a:solidFill>
                <a:latin typeface="Calibri" pitchFamily="34" charset="0"/>
                <a:ea typeface="Calibri" pitchFamily="34" charset="-122"/>
                <a:cs typeface="Calibri" pitchFamily="34" charset="-120"/>
              </a:rPr>
              <a:t>The analyst skill: </a:t>
            </a:r>
            <a:pPr indent="0" marL="0">
              <a:lnSpc>
                <a:spcPct val="112000"/>
              </a:lnSpc>
              <a:buNone/>
            </a:pPr>
            <a:r>
              <a:rPr lang="en-US" sz="1400" dirty="0">
                <a:solidFill>
                  <a:srgbClr val="1A2733"/>
                </a:solidFill>
                <a:latin typeface="Calibri" pitchFamily="34" charset="0"/>
                <a:ea typeface="Calibri" pitchFamily="34" charset="-122"/>
                <a:cs typeface="Calibri" pitchFamily="34" charset="-120"/>
              </a:rPr>
              <a:t>the same event leaves evidence in more than one place. Today you generate a scan, then find your own fingerprints in a log file — the same habit you will use on packets, flows and IDS alerts for the rest of Module 4.</a:t>
            </a:r>
            <a:endParaRPr lang="en-US" sz="1400" dirty="0"/>
          </a:p>
        </p:txBody>
      </p:sp>
      <p:sp>
        <p:nvSpPr>
          <p:cNvPr id="17" name="Text 14"/>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By the End of This Lab You Can…</a:t>
            </a:r>
            <a:endParaRPr lang="en-US" sz="2800" dirty="0"/>
          </a:p>
        </p:txBody>
      </p:sp>
      <p:sp>
        <p:nvSpPr>
          <p:cNvPr id="4" name="Shape 2"/>
          <p:cNvSpPr/>
          <p:nvPr/>
        </p:nvSpPr>
        <p:spPr>
          <a:xfrm>
            <a:off x="10561320" y="502920"/>
            <a:ext cx="685800" cy="685800"/>
          </a:xfrm>
          <a:prstGeom prst="ellipse">
            <a:avLst/>
          </a:prstGeom>
          <a:solidFill>
            <a:srgbClr val="0E7C86"/>
          </a:solidFill>
          <a:ln/>
        </p:spPr>
      </p:sp>
      <p:pic>
        <p:nvPicPr>
          <p:cNvPr id="5" name="Image 0" descr="/home/claude/soc_course/build/icons/target_white.png">    </p:cNvPr>
          <p:cNvPicPr>
            <a:picLocks noChangeAspect="1"/>
          </p:cNvPicPr>
          <p:nvPr/>
        </p:nvPicPr>
        <p:blipFill>
          <a:blip r:embed="rId1"/>
          <a:stretch>
            <a:fillRect/>
          </a:stretch>
        </p:blipFill>
        <p:spPr>
          <a:xfrm>
            <a:off x="10725912" y="667512"/>
            <a:ext cx="356616" cy="356616"/>
          </a:xfrm>
          <a:prstGeom prst="rect">
            <a:avLst/>
          </a:prstGeom>
        </p:spPr>
      </p:pic>
      <p:sp>
        <p:nvSpPr>
          <p:cNvPr id="6" name="Text 3"/>
          <p:cNvSpPr txBox="1"/>
          <p:nvPr/>
        </p:nvSpPr>
        <p:spPr>
          <a:xfrm>
            <a:off x="548640" y="1600200"/>
            <a:ext cx="11064240" cy="46634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900" dirty="0">
                <a:solidFill>
                  <a:srgbClr val="1A2733"/>
                </a:solidFill>
                <a:latin typeface="Calibri" pitchFamily="34" charset="0"/>
                <a:ea typeface="Calibri" pitchFamily="34" charset="-122"/>
                <a:cs typeface="Calibri" pitchFamily="34" charset="-120"/>
              </a:rPr>
              <a:t>Explain what a port scan is and why it is usually the first sign of an attacker mapping a system.</a:t>
            </a:r>
            <a:endParaRPr lang="en-US" sz="1900" dirty="0"/>
          </a:p>
          <a:p>
            <a:pPr marL="228600" indent="-228600">
              <a:lnSpc>
                <a:spcPct val="115000"/>
              </a:lnSpc>
              <a:spcAft>
                <a:spcPts val="1400"/>
              </a:spcAft>
              <a:buSzPct val="100000"/>
              <a:buChar char="▪"/>
            </a:pPr>
            <a:r>
              <a:rPr lang="en-US" sz="1900" dirty="0">
                <a:solidFill>
                  <a:srgbClr val="1A2733"/>
                </a:solidFill>
                <a:latin typeface="Calibri" pitchFamily="34" charset="0"/>
                <a:ea typeface="Calibri" pitchFamily="34" charset="-122"/>
                <a:cs typeface="Calibri" pitchFamily="34" charset="-120"/>
              </a:rPr>
              <a:t>Run an nmap SYN scan from Kali and predict whether nmap will report a port open, closed or filtered.</a:t>
            </a:r>
            <a:endParaRPr lang="en-US" sz="1900" dirty="0"/>
          </a:p>
          <a:p>
            <a:pPr marL="228600" indent="-228600">
              <a:lnSpc>
                <a:spcPct val="115000"/>
              </a:lnSpc>
              <a:spcAft>
                <a:spcPts val="1400"/>
              </a:spcAft>
              <a:buSzPct val="100000"/>
              <a:buChar char="▪"/>
            </a:pPr>
            <a:r>
              <a:rPr lang="en-US" sz="1900" dirty="0">
                <a:solidFill>
                  <a:srgbClr val="1A2733"/>
                </a:solidFill>
                <a:latin typeface="Calibri" pitchFamily="34" charset="0"/>
                <a:ea typeface="Calibri" pitchFamily="34" charset="-122"/>
                <a:cs typeface="Calibri" pitchFamily="34" charset="-120"/>
              </a:rPr>
              <a:t>Configure UFW on Ubuntu to deny traffic from one IP and to log what it blocks.</a:t>
            </a:r>
            <a:endParaRPr lang="en-US" sz="1900" dirty="0"/>
          </a:p>
          <a:p>
            <a:pPr marL="228600" indent="-228600">
              <a:lnSpc>
                <a:spcPct val="115000"/>
              </a:lnSpc>
              <a:spcAft>
                <a:spcPts val="1400"/>
              </a:spcAft>
              <a:buSzPct val="100000"/>
              <a:buChar char="▪"/>
            </a:pPr>
            <a:r>
              <a:rPr lang="en-US" sz="1900" dirty="0">
                <a:solidFill>
                  <a:srgbClr val="1A2733"/>
                </a:solidFill>
                <a:latin typeface="Calibri" pitchFamily="34" charset="0"/>
                <a:ea typeface="Calibri" pitchFamily="34" charset="-122"/>
                <a:cs typeface="Calibri" pitchFamily="34" charset="-120"/>
              </a:rPr>
              <a:t>Read a [UFW BLOCK] entry and pull out the three facts an analyst needs: source IP, targeted port, timestamp.</a:t>
            </a:r>
            <a:endParaRPr lang="en-US" sz="1900" dirty="0"/>
          </a:p>
          <a:p>
            <a:pPr marL="228600" indent="-228600">
              <a:lnSpc>
                <a:spcPct val="115000"/>
              </a:lnSpc>
              <a:spcAft>
                <a:spcPts val="1400"/>
              </a:spcAft>
              <a:buSzPct val="100000"/>
              <a:buChar char="▪"/>
            </a:pPr>
            <a:r>
              <a:rPr lang="en-US" sz="1900" dirty="0">
                <a:solidFill>
                  <a:srgbClr val="1A2733"/>
                </a:solidFill>
                <a:latin typeface="Calibri" pitchFamily="34" charset="0"/>
                <a:ea typeface="Calibri" pitchFamily="34" charset="-122"/>
                <a:cs typeface="Calibri" pitchFamily="34" charset="-120"/>
              </a:rPr>
              <a:t>Connect this evidence to Module 3 (Reconnaissance) and Module 4 (the same scan seen in Wireshark).</a:t>
            </a:r>
            <a:endParaRPr lang="en-US" sz="1900" dirty="0"/>
          </a:p>
        </p:txBody>
      </p:sp>
      <p:sp>
        <p:nvSpPr>
          <p:cNvPr id="7" name="Text 4"/>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7304F"/>
          </a:solidFill>
          <a:ln/>
        </p:spPr>
      </p:sp>
      <p:sp>
        <p:nvSpPr>
          <p:cNvPr id="3" name="Text 1"/>
          <p:cNvSpPr txBox="1"/>
          <p:nvPr/>
        </p:nvSpPr>
        <p:spPr>
          <a:xfrm>
            <a:off x="640080" y="2331720"/>
            <a:ext cx="5486400" cy="320040"/>
          </a:xfrm>
          <a:prstGeom prst="rect">
            <a:avLst/>
          </a:prstGeom>
          <a:noFill/>
          <a:ln/>
        </p:spPr>
        <p:txBody>
          <a:bodyPr wrap="square" lIns="0" tIns="0" rIns="0" bIns="0" rtlCol="0" anchor="ctr"/>
          <a:lstStyle/>
          <a:p>
            <a:pPr indent="0" marL="0">
              <a:buNone/>
            </a:pPr>
            <a:r>
              <a:rPr lang="en-US" sz="1400" b="1" spc="200" kern="0" dirty="0">
                <a:solidFill>
                  <a:srgbClr val="D9822B"/>
                </a:solidFill>
                <a:latin typeface="Calibri" pitchFamily="34" charset="0"/>
                <a:ea typeface="Calibri" pitchFamily="34" charset="-122"/>
                <a:cs typeface="Calibri" pitchFamily="34" charset="-120"/>
              </a:rPr>
              <a:t>PART 1 OF 3</a:t>
            </a:r>
            <a:endParaRPr lang="en-US" sz="1400" dirty="0"/>
          </a:p>
        </p:txBody>
      </p:sp>
      <p:sp>
        <p:nvSpPr>
          <p:cNvPr id="4" name="Text 2"/>
          <p:cNvSpPr txBox="1"/>
          <p:nvPr/>
        </p:nvSpPr>
        <p:spPr>
          <a:xfrm>
            <a:off x="640080" y="2697480"/>
            <a:ext cx="7863840" cy="118872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The Concepts</a:t>
            </a:r>
            <a:endParaRPr lang="en-US" sz="3400" dirty="0"/>
          </a:p>
        </p:txBody>
      </p:sp>
      <p:sp>
        <p:nvSpPr>
          <p:cNvPr id="5" name="Text 3"/>
          <p:cNvSpPr txBox="1"/>
          <p:nvPr/>
        </p:nvSpPr>
        <p:spPr>
          <a:xfrm>
            <a:off x="640080" y="3931920"/>
            <a:ext cx="7498080" cy="914400"/>
          </a:xfrm>
          <a:prstGeom prst="rect">
            <a:avLst/>
          </a:prstGeom>
          <a:noFill/>
          <a:ln/>
        </p:spPr>
        <p:txBody>
          <a:bodyPr wrap="square" lIns="0" tIns="0" rIns="0" bIns="0" rtlCol="0" anchor="t"/>
          <a:lstStyle/>
          <a:p>
            <a:pPr indent="0" marL="0">
              <a:lnSpc>
                <a:spcPct val="120000"/>
              </a:lnSpc>
              <a:buNone/>
            </a:pPr>
            <a:r>
              <a:rPr lang="en-US" sz="1500" dirty="0">
                <a:solidFill>
                  <a:srgbClr val="C9DADD"/>
                </a:solidFill>
                <a:latin typeface="Calibri" pitchFamily="34" charset="0"/>
                <a:ea typeface="Calibri" pitchFamily="34" charset="-122"/>
                <a:cs typeface="Calibri" pitchFamily="34" charset="-120"/>
              </a:rPr>
              <a:t>Port scans, nmap, and the firewall that will catch it — everything you need before touching a keyboard.</a:t>
            </a:r>
            <a:endParaRPr lang="en-US" sz="1500" dirty="0"/>
          </a:p>
        </p:txBody>
      </p:sp>
      <p:sp>
        <p:nvSpPr>
          <p:cNvPr id="6" name="Shape 4"/>
          <p:cNvSpPr/>
          <p:nvPr/>
        </p:nvSpPr>
        <p:spPr>
          <a:xfrm>
            <a:off x="9692640" y="2743200"/>
            <a:ext cx="1554480" cy="1554480"/>
          </a:xfrm>
          <a:prstGeom prst="ellipse">
            <a:avLst/>
          </a:prstGeom>
          <a:solidFill>
            <a:srgbClr val="0E7C86"/>
          </a:solidFill>
          <a:ln/>
        </p:spPr>
      </p:sp>
      <p:pic>
        <p:nvPicPr>
          <p:cNvPr id="7" name="Image 0" descr="/home/claude/soc_course/build/icons/book_white.png">    </p:cNvPr>
          <p:cNvPicPr>
            <a:picLocks noChangeAspect="1"/>
          </p:cNvPicPr>
          <p:nvPr/>
        </p:nvPicPr>
        <p:blipFill>
          <a:blip r:embed="rId1"/>
          <a:stretch>
            <a:fillRect/>
          </a:stretch>
        </p:blipFill>
        <p:spPr>
          <a:xfrm>
            <a:off x="10065715" y="3116275"/>
            <a:ext cx="808330" cy="808330"/>
          </a:xfrm>
          <a:prstGeom prst="rect">
            <a:avLst/>
          </a:prstGeom>
        </p:spPr>
      </p:pic>
      <p:sp>
        <p:nvSpPr>
          <p:cNvPr id="8" name="Text 5"/>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9" name="Text 6"/>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What Is a Port Scan?</a:t>
            </a:r>
            <a:endParaRPr lang="en-US" sz="2800" dirty="0"/>
          </a:p>
        </p:txBody>
      </p:sp>
      <p:sp>
        <p:nvSpPr>
          <p:cNvPr id="4" name="Shape 2"/>
          <p:cNvSpPr/>
          <p:nvPr/>
        </p:nvSpPr>
        <p:spPr>
          <a:xfrm>
            <a:off x="548640" y="1554480"/>
            <a:ext cx="5394960" cy="4663440"/>
          </a:xfrm>
          <a:prstGeom prst="roundRect">
            <a:avLst>
              <a:gd name="adj" fmla="val 1569"/>
            </a:avLst>
          </a:prstGeom>
          <a:solidFill>
            <a:srgbClr val="EEF2F4"/>
          </a:solidFill>
          <a:ln/>
        </p:spPr>
      </p:sp>
      <p:sp>
        <p:nvSpPr>
          <p:cNvPr id="5" name="Shape 3"/>
          <p:cNvSpPr/>
          <p:nvPr/>
        </p:nvSpPr>
        <p:spPr>
          <a:xfrm>
            <a:off x="777240" y="1691640"/>
            <a:ext cx="457200" cy="457200"/>
          </a:xfrm>
          <a:prstGeom prst="ellipse">
            <a:avLst/>
          </a:prstGeom>
          <a:solidFill>
            <a:srgbClr val="0E7C86"/>
          </a:solidFill>
          <a:ln/>
        </p:spPr>
      </p:sp>
      <p:pic>
        <p:nvPicPr>
          <p:cNvPr id="6" name="Image 0" descr="/home/claude/soc_course/build/icons/radar_white.png">    </p:cNvPr>
          <p:cNvPicPr>
            <a:picLocks noChangeAspect="1"/>
          </p:cNvPicPr>
          <p:nvPr/>
        </p:nvPicPr>
        <p:blipFill>
          <a:blip r:embed="rId1"/>
          <a:stretch>
            <a:fillRect/>
          </a:stretch>
        </p:blipFill>
        <p:spPr>
          <a:xfrm>
            <a:off x="886968" y="1801368"/>
            <a:ext cx="237744" cy="237744"/>
          </a:xfrm>
          <a:prstGeom prst="rect">
            <a:avLst/>
          </a:prstGeom>
        </p:spPr>
      </p:pic>
      <p:sp>
        <p:nvSpPr>
          <p:cNvPr id="7" name="Text 4"/>
          <p:cNvSpPr txBox="1"/>
          <p:nvPr/>
        </p:nvSpPr>
        <p:spPr>
          <a:xfrm>
            <a:off x="1371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What it is</a:t>
            </a:r>
            <a:endParaRPr lang="en-US" sz="1600" dirty="0"/>
          </a:p>
        </p:txBody>
      </p:sp>
      <p:sp>
        <p:nvSpPr>
          <p:cNvPr id="8" name="Text 5"/>
          <p:cNvSpPr txBox="1"/>
          <p:nvPr/>
        </p:nvSpPr>
        <p:spPr>
          <a:xfrm>
            <a:off x="822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A technique for probing a system to find which network ports are open and which services answer.</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Every listening service (SSH 22, HTTP 80, FTP 21…) sits behind a port number.</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The result is a map of the target's network surface.</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Tools like nmap automate it: hundreds of ports in seconds.</a:t>
            </a:r>
            <a:endParaRPr lang="en-US" sz="1550" dirty="0"/>
          </a:p>
        </p:txBody>
      </p:sp>
      <p:sp>
        <p:nvSpPr>
          <p:cNvPr id="9" name="Shape 6"/>
          <p:cNvSpPr/>
          <p:nvPr/>
        </p:nvSpPr>
        <p:spPr>
          <a:xfrm>
            <a:off x="6263640" y="1554480"/>
            <a:ext cx="5394960" cy="4663440"/>
          </a:xfrm>
          <a:prstGeom prst="roundRect">
            <a:avLst>
              <a:gd name="adj" fmla="val 1569"/>
            </a:avLst>
          </a:prstGeom>
          <a:solidFill>
            <a:srgbClr val="EEF2F4"/>
          </a:solidFill>
          <a:ln/>
        </p:spPr>
      </p:sp>
      <p:sp>
        <p:nvSpPr>
          <p:cNvPr id="10" name="Shape 7"/>
          <p:cNvSpPr/>
          <p:nvPr/>
        </p:nvSpPr>
        <p:spPr>
          <a:xfrm>
            <a:off x="6492240" y="1691640"/>
            <a:ext cx="457200" cy="457200"/>
          </a:xfrm>
          <a:prstGeom prst="ellipse">
            <a:avLst/>
          </a:prstGeom>
          <a:solidFill>
            <a:srgbClr val="D9822B"/>
          </a:solidFill>
          <a:ln/>
        </p:spPr>
      </p:sp>
      <p:pic>
        <p:nvPicPr>
          <p:cNvPr id="11" name="Image 1" descr="/home/claude/soc_course/build/icons/warning_white.png">    </p:cNvPr>
          <p:cNvPicPr>
            <a:picLocks noChangeAspect="1"/>
          </p:cNvPicPr>
          <p:nvPr/>
        </p:nvPicPr>
        <p:blipFill>
          <a:blip r:embed="rId2"/>
          <a:stretch>
            <a:fillRect/>
          </a:stretch>
        </p:blipFill>
        <p:spPr>
          <a:xfrm>
            <a:off x="6601968" y="1801368"/>
            <a:ext cx="237744" cy="237744"/>
          </a:xfrm>
          <a:prstGeom prst="rect">
            <a:avLst/>
          </a:prstGeom>
        </p:spPr>
      </p:pic>
      <p:sp>
        <p:nvSpPr>
          <p:cNvPr id="12" name="Text 8"/>
          <p:cNvSpPr txBox="1"/>
          <p:nvPr/>
        </p:nvSpPr>
        <p:spPr>
          <a:xfrm>
            <a:off x="7086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Why it matters to a defender</a:t>
            </a:r>
            <a:endParaRPr lang="en-US" sz="1600" dirty="0"/>
          </a:p>
        </p:txBody>
      </p:sp>
      <p:sp>
        <p:nvSpPr>
          <p:cNvPr id="13" name="Text 9"/>
          <p:cNvSpPr txBox="1"/>
          <p:nvPr/>
        </p:nvSpPr>
        <p:spPr>
          <a:xfrm>
            <a:off x="6537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Scans are often the precursor to exploitation.</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They reveal exposed SSH, FTP, or outdated web servers worth attacking.</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Legitimate admins scan too — but an unknown source probing many ports is a classic early warning.</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Spotting recon early gives the SOC time to respond before the exploit.</a:t>
            </a:r>
            <a:endParaRPr lang="en-US" sz="1550" dirty="0"/>
          </a:p>
        </p:txBody>
      </p:sp>
      <p:sp>
        <p:nvSpPr>
          <p:cNvPr id="14" name="Text 10"/>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15" name="Text 11"/>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Nmap: The Popular Scan Types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188720"/>
                <a:gridCol w="2743200"/>
                <a:gridCol w="7132320"/>
              </a:tblGrid>
              <a:tr h="71323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Flag</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Scan</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r>
              <a:tr h="713232">
                <a:tc>
                  <a:txBody>
                    <a:bodyPr/>
                    <a:lstStyle/>
                    <a:p>
                      <a:pPr algn="l" indent="0" marL="0">
                        <a:buNone/>
                      </a:pPr>
                      <a:r>
                        <a:rPr lang="en-US" sz="1200" b="1" dirty="0">
                          <a:solidFill>
                            <a:srgbClr val="1A2733"/>
                          </a:solidFill>
                          <a:latin typeface="Courier New" pitchFamily="34" charset="0"/>
                          <a:ea typeface="Courier New" pitchFamily="34" charset="-122"/>
                          <a:cs typeface="Courier New" pitchFamily="34" charset="-120"/>
                        </a:rPr>
                        <a:t>-sS</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SYN scan ("half-open")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Sends a SYN, never completes the handshake. Fast. Needs raw-packet access, so run it with sudo.</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1A2733"/>
                          </a:solidFill>
                          <a:latin typeface="Courier New" pitchFamily="34" charset="0"/>
                          <a:ea typeface="Courier New" pitchFamily="34" charset="-122"/>
                          <a:cs typeface="Courier New" pitchFamily="34" charset="-120"/>
                        </a:rPr>
                        <a:t>-sT</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TCP connect scan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Asks the OS to open a full connection. Works without root, but is noisier in service logs.</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713232">
                <a:tc>
                  <a:txBody>
                    <a:bodyPr/>
                    <a:lstStyle/>
                    <a:p>
                      <a:pPr algn="l" indent="0" marL="0">
                        <a:buNone/>
                      </a:pPr>
                      <a:r>
                        <a:rPr lang="en-US" sz="1200" b="1" dirty="0">
                          <a:solidFill>
                            <a:srgbClr val="1A2733"/>
                          </a:solidFill>
                          <a:latin typeface="Courier New" pitchFamily="34" charset="0"/>
                          <a:ea typeface="Courier New" pitchFamily="34" charset="-122"/>
                          <a:cs typeface="Courier New" pitchFamily="34" charset="-120"/>
                        </a:rPr>
                        <a:t>-sU</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UDP scan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Probes UDP services such as DNS (53) or SNMP (161). Slower, because open UDP ports often stay silent.</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1A2733"/>
                          </a:solidFill>
                          <a:latin typeface="Courier New" pitchFamily="34" charset="0"/>
                          <a:ea typeface="Courier New" pitchFamily="34" charset="-122"/>
                          <a:cs typeface="Courier New" pitchFamily="34" charset="-120"/>
                        </a:rPr>
                        <a:t>-sn</a:t>
                      </a:r>
                      <a:endParaRPr lang="en-US" sz="120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Ping scan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Host discovery only: which machines are up. No port scan.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bl>
          </a:graphicData>
        </a:graphic>
      </p:graphicFrame>
      <p:sp>
        <p:nvSpPr>
          <p:cNvPr id="5" name="Shape 2"/>
          <p:cNvSpPr/>
          <p:nvPr/>
        </p:nvSpPr>
        <p:spPr>
          <a:xfrm>
            <a:off x="548640" y="5577840"/>
            <a:ext cx="11064240" cy="685800"/>
          </a:xfrm>
          <a:prstGeom prst="roundRect">
            <a:avLst>
              <a:gd name="adj" fmla="val 9333"/>
            </a:avLst>
          </a:prstGeom>
          <a:solidFill>
            <a:srgbClr val="E4F0F1"/>
          </a:solidFill>
          <a:ln/>
        </p:spPr>
      </p:sp>
      <p:sp>
        <p:nvSpPr>
          <p:cNvPr id="6" name="Text 3"/>
          <p:cNvSpPr txBox="1"/>
          <p:nvPr/>
        </p:nvSpPr>
        <p:spPr>
          <a:xfrm>
            <a:off x="777240" y="5623560"/>
            <a:ext cx="10607040" cy="594360"/>
          </a:xfrm>
          <a:prstGeom prst="rect">
            <a:avLst/>
          </a:prstGeom>
          <a:noFill/>
          <a:ln/>
        </p:spPr>
        <p:txBody>
          <a:bodyPr wrap="square" lIns="0" tIns="0" rIns="0" bIns="0" rtlCol="0" anchor="ctr"/>
          <a:lstStyle/>
          <a:p>
            <a:pPr indent="0" marL="0">
              <a:buNone/>
            </a:pPr>
            <a:r>
              <a:rPr lang="en-US" sz="1250" dirty="0">
                <a:solidFill>
                  <a:srgbClr val="0F2540"/>
                </a:solidFill>
                <a:latin typeface="Calibri" pitchFamily="34" charset="0"/>
                <a:ea typeface="Calibri" pitchFamily="34" charset="-122"/>
                <a:cs typeface="Calibri" pitchFamily="34" charset="-120"/>
              </a:rPr>
              <a:t>Handy extras:  -p 80 (one port)   ·   -p 20-100 (a range)   ·   -Pn (skip host discovery if ping is blocked).   Only scan systems you own or are authorised to test.</a:t>
            </a:r>
            <a:endParaRPr lang="en-US" sz="1250" dirty="0"/>
          </a:p>
        </p:txBody>
      </p:sp>
      <p:sp>
        <p:nvSpPr>
          <p:cNvPr id="7" name="Text 4"/>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8" name="Text 5"/>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How a SYN Scan Looks on the Wire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206240"/>
                <a:gridCol w="2011680"/>
                <a:gridCol w="2743200"/>
                <a:gridCol w="2103120"/>
              </a:tblGrid>
              <a:tr h="6400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Situation on the target</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Scanner sends</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Target replies</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Nmap reports</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r>
              <a:tr h="640080">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A service is listening and the firewall allows it</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SYN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SYN/ACK</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open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640080">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Nothing listening, firewall allows it</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SYN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RST (reset)</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closed</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640080">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Firewall silently drops it (our UFW deny)</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BEBD8"/>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SYN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BEBD8"/>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nothing at all</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BEBD8"/>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filtered</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BEBD8"/>
                    </a:solidFill>
                  </a:tcPr>
                </a:tc>
              </a:tr>
            </a:tbl>
          </a:graphicData>
        </a:graphic>
      </p:graphicFrame>
      <p:sp>
        <p:nvSpPr>
          <p:cNvPr id="5" name="Shape 2"/>
          <p:cNvSpPr/>
          <p:nvPr/>
        </p:nvSpPr>
        <p:spPr>
          <a:xfrm>
            <a:off x="548640" y="5577840"/>
            <a:ext cx="11064240" cy="685800"/>
          </a:xfrm>
          <a:prstGeom prst="roundRect">
            <a:avLst>
              <a:gd name="adj" fmla="val 9333"/>
            </a:avLst>
          </a:prstGeom>
          <a:solidFill>
            <a:srgbClr val="E4F0F1"/>
          </a:solidFill>
          <a:ln/>
        </p:spPr>
      </p:sp>
      <p:sp>
        <p:nvSpPr>
          <p:cNvPr id="6" name="Text 3"/>
          <p:cNvSpPr txBox="1"/>
          <p:nvPr/>
        </p:nvSpPr>
        <p:spPr>
          <a:xfrm>
            <a:off x="777240" y="5623560"/>
            <a:ext cx="10607040" cy="594360"/>
          </a:xfrm>
          <a:prstGeom prst="rect">
            <a:avLst/>
          </a:prstGeom>
          <a:noFill/>
          <a:ln/>
        </p:spPr>
        <p:txBody>
          <a:bodyPr wrap="square" lIns="0" tIns="0" rIns="0" bIns="0" rtlCol="0" anchor="ctr"/>
          <a:lstStyle/>
          <a:p>
            <a:pPr indent="0" marL="0">
              <a:buNone/>
            </a:pPr>
            <a:r>
              <a:rPr lang="en-US" sz="1250" dirty="0">
                <a:solidFill>
                  <a:srgbClr val="0F2540"/>
                </a:solidFill>
                <a:latin typeface="Calibri" pitchFamily="34" charset="0"/>
                <a:ea typeface="Calibri" pitchFamily="34" charset="-122"/>
                <a:cs typeface="Calibri" pitchFamily="34" charset="-120"/>
              </a:rPr>
              <a:t>Module 4 link: in Wireshark the probes are exactly  tcp.flags.syn==1 &amp;&amp; tcp.flags.ack==0.  Nmap also counts an ICMP "unreachable" reply as filtered. Source: nmap.org port-scanning docs.</a:t>
            </a:r>
            <a:endParaRPr lang="en-US" sz="1250" dirty="0"/>
          </a:p>
        </p:txBody>
      </p:sp>
      <p:sp>
        <p:nvSpPr>
          <p:cNvPr id="7" name="Text 4"/>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8" name="Text 5"/>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What Is UFW?</a:t>
            </a:r>
            <a:endParaRPr lang="en-US" sz="2800" dirty="0"/>
          </a:p>
        </p:txBody>
      </p:sp>
      <p:sp>
        <p:nvSpPr>
          <p:cNvPr id="4" name="Shape 2"/>
          <p:cNvSpPr/>
          <p:nvPr/>
        </p:nvSpPr>
        <p:spPr>
          <a:xfrm>
            <a:off x="548640" y="1554480"/>
            <a:ext cx="5394960" cy="4663440"/>
          </a:xfrm>
          <a:prstGeom prst="roundRect">
            <a:avLst>
              <a:gd name="adj" fmla="val 1569"/>
            </a:avLst>
          </a:prstGeom>
          <a:solidFill>
            <a:srgbClr val="EEF2F4"/>
          </a:solidFill>
          <a:ln/>
        </p:spPr>
      </p:sp>
      <p:sp>
        <p:nvSpPr>
          <p:cNvPr id="5" name="Shape 3"/>
          <p:cNvSpPr/>
          <p:nvPr/>
        </p:nvSpPr>
        <p:spPr>
          <a:xfrm>
            <a:off x="777240" y="1691640"/>
            <a:ext cx="457200" cy="457200"/>
          </a:xfrm>
          <a:prstGeom prst="ellipse">
            <a:avLst/>
          </a:prstGeom>
          <a:solidFill>
            <a:srgbClr val="0E7C86"/>
          </a:solidFill>
          <a:ln/>
        </p:spPr>
      </p:sp>
      <p:pic>
        <p:nvPicPr>
          <p:cNvPr id="6" name="Image 0" descr="/home/claude/soc_course/build/icons/shield_white.png">    </p:cNvPr>
          <p:cNvPicPr>
            <a:picLocks noChangeAspect="1"/>
          </p:cNvPicPr>
          <p:nvPr/>
        </p:nvPicPr>
        <p:blipFill>
          <a:blip r:embed="rId1"/>
          <a:stretch>
            <a:fillRect/>
          </a:stretch>
        </p:blipFill>
        <p:spPr>
          <a:xfrm>
            <a:off x="886968" y="1801368"/>
            <a:ext cx="237744" cy="237744"/>
          </a:xfrm>
          <a:prstGeom prst="rect">
            <a:avLst/>
          </a:prstGeom>
        </p:spPr>
      </p:pic>
      <p:sp>
        <p:nvSpPr>
          <p:cNvPr id="7" name="Text 4"/>
          <p:cNvSpPr txBox="1"/>
          <p:nvPr/>
        </p:nvSpPr>
        <p:spPr>
          <a:xfrm>
            <a:off x="1371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Uncomplicated Firewall</a:t>
            </a:r>
            <a:endParaRPr lang="en-US" sz="1600" dirty="0"/>
          </a:p>
        </p:txBody>
      </p:sp>
      <p:sp>
        <p:nvSpPr>
          <p:cNvPr id="8" name="Text 5"/>
          <p:cNvSpPr txBox="1"/>
          <p:nvPr/>
        </p:nvSpPr>
        <p:spPr>
          <a:xfrm>
            <a:off x="822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A friendly front end for iptables on Ubuntu.</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Lets you allow, deny and manage traffic with short commands.</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On enable, the default is: deny incoming, allow outgoing.</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Logs blocked traffic through the system logger.</a:t>
            </a:r>
            <a:endParaRPr lang="en-US" sz="1550" dirty="0"/>
          </a:p>
        </p:txBody>
      </p:sp>
      <p:sp>
        <p:nvSpPr>
          <p:cNvPr id="9" name="Shape 6"/>
          <p:cNvSpPr/>
          <p:nvPr/>
        </p:nvSpPr>
        <p:spPr>
          <a:xfrm>
            <a:off x="6263640" y="1554480"/>
            <a:ext cx="5394960" cy="4663440"/>
          </a:xfrm>
          <a:prstGeom prst="roundRect">
            <a:avLst>
              <a:gd name="adj" fmla="val 1569"/>
            </a:avLst>
          </a:prstGeom>
          <a:solidFill>
            <a:srgbClr val="EEF2F4"/>
          </a:solidFill>
          <a:ln/>
        </p:spPr>
      </p:sp>
      <p:sp>
        <p:nvSpPr>
          <p:cNvPr id="10" name="Shape 7"/>
          <p:cNvSpPr/>
          <p:nvPr/>
        </p:nvSpPr>
        <p:spPr>
          <a:xfrm>
            <a:off x="6492240" y="1691640"/>
            <a:ext cx="457200" cy="457200"/>
          </a:xfrm>
          <a:prstGeom prst="ellipse">
            <a:avLst/>
          </a:prstGeom>
          <a:solidFill>
            <a:srgbClr val="0F2540"/>
          </a:solidFill>
          <a:ln/>
        </p:spPr>
      </p:sp>
      <p:pic>
        <p:nvPicPr>
          <p:cNvPr id="11" name="Image 1" descr="/home/claude/soc_course/build/icons/terminal_white.png">    </p:cNvPr>
          <p:cNvPicPr>
            <a:picLocks noChangeAspect="1"/>
          </p:cNvPicPr>
          <p:nvPr/>
        </p:nvPicPr>
        <p:blipFill>
          <a:blip r:embed="rId2"/>
          <a:stretch>
            <a:fillRect/>
          </a:stretch>
        </p:blipFill>
        <p:spPr>
          <a:xfrm>
            <a:off x="6601968" y="1801368"/>
            <a:ext cx="237744" cy="237744"/>
          </a:xfrm>
          <a:prstGeom prst="rect">
            <a:avLst/>
          </a:prstGeom>
        </p:spPr>
      </p:pic>
      <p:sp>
        <p:nvSpPr>
          <p:cNvPr id="12" name="Text 8"/>
          <p:cNvSpPr txBox="1"/>
          <p:nvPr/>
        </p:nvSpPr>
        <p:spPr>
          <a:xfrm>
            <a:off x="7086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Files and checks to know</a:t>
            </a:r>
            <a:endParaRPr lang="en-US" sz="1600" dirty="0"/>
          </a:p>
        </p:txBody>
      </p:sp>
      <p:sp>
        <p:nvSpPr>
          <p:cNvPr id="13" name="Text 9"/>
          <p:cNvSpPr txBox="1"/>
          <p:nvPr/>
        </p:nvSpPr>
        <p:spPr>
          <a:xfrm>
            <a:off x="6537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Log file:  /var/log/ufw.log</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Rule file:  /etc/ufw/before.rules (advanced; we will not edit it)</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Check state:  sudo ufw status verbose</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See rule numbers:  sudo ufw status numbered</a:t>
            </a:r>
            <a:endParaRPr lang="en-US" sz="1550" dirty="0"/>
          </a:p>
        </p:txBody>
      </p:sp>
      <p:sp>
        <p:nvSpPr>
          <p:cNvPr id="14" name="Text 10"/>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15" name="Text 11"/>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UFW Rule Syntax Cheat Sheet</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6035040"/>
                <a:gridCol w="5029200"/>
              </a:tblGrid>
              <a:tr h="51206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r>
              <a:tr h="512064">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ufw allow ssh</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Allow by service name (or ufw allow 22/tcp)</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12064">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ufw deny 80/tcp</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Deny a port for everyone</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512064">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ufw allow from 10.0.0.5</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Allow everything from one IP</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12064">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ufw allow from 10.0.0.5 to any port 22</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Allow one port, from one IP</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512064">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ufw deny log from &lt;IP&gt; to any port 80 proto tcp</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Deny and log matches — our lab rule</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12064">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ufw status numbered</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List rules with index numbers</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512064">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ufw delete &lt;number&gt;</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Remove a rule by its number</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6" name="Text 3"/>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UFW Logging Levels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011680"/>
                <a:gridCol w="9052560"/>
              </a:tblGrid>
              <a:tr h="6400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Level</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gets logged (UFW man page)</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r>
              <a:tr h="640080">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off</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Disables UFW-managed logging.</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low  (default)</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Blocked packets that hit the default policy (rate-limited), plus packets matching rules marked log.</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640080">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medium</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Everything in low, plus allowed packets not matching policy, INVALID packets, and all new connections.</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high</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Medium without rate limiting, plus all packets (rate-limited).</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640080">
                <a:tc>
                  <a:txBody>
                    <a:bodyPr/>
                    <a:lstStyle/>
                    <a:p>
                      <a:pPr algn="l" indent="0" marL="0">
                        <a:buNone/>
                      </a:pPr>
                      <a:r>
                        <a:rPr lang="en-US" sz="1150" b="1" dirty="0">
                          <a:solidFill>
                            <a:srgbClr val="1A2733"/>
                          </a:solidFill>
                          <a:latin typeface="Courier New" pitchFamily="34" charset="0"/>
                          <a:ea typeface="Courier New" pitchFamily="34" charset="-122"/>
                          <a:cs typeface="Courier New" pitchFamily="34" charset="-120"/>
                        </a:rPr>
                        <a:t>full</a:t>
                      </a:r>
                      <a:endParaRPr lang="en-US" sz="1150" dirty="0">
                        <a:latin typeface="Courier New" charset="0"/>
                        <a:ea typeface="Courier New" charset="0"/>
                        <a:cs typeface="Courier New"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733"/>
                          </a:solidFill>
                          <a:latin typeface="Calibri" pitchFamily="34" charset="0"/>
                          <a:ea typeface="Calibri" pitchFamily="34" charset="-122"/>
                          <a:cs typeface="Calibri" pitchFamily="34" charset="-120"/>
                        </a:rPr>
                        <a:t>High without rate limiting.</a:t>
                      </a:r>
                      <a:endParaRPr lang="en-US" sz="12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577840"/>
            <a:ext cx="11064240" cy="685800"/>
          </a:xfrm>
          <a:prstGeom prst="roundRect">
            <a:avLst>
              <a:gd name="adj" fmla="val 9333"/>
            </a:avLst>
          </a:prstGeom>
          <a:solidFill>
            <a:srgbClr val="E4F0F1"/>
          </a:solidFill>
          <a:ln/>
        </p:spPr>
      </p:sp>
      <p:sp>
        <p:nvSpPr>
          <p:cNvPr id="6" name="Text 3"/>
          <p:cNvSpPr txBox="1"/>
          <p:nvPr/>
        </p:nvSpPr>
        <p:spPr>
          <a:xfrm>
            <a:off x="777240" y="5623560"/>
            <a:ext cx="10607040" cy="594360"/>
          </a:xfrm>
          <a:prstGeom prst="rect">
            <a:avLst/>
          </a:prstGeom>
          <a:noFill/>
          <a:ln/>
        </p:spPr>
        <p:txBody>
          <a:bodyPr wrap="square" lIns="0" tIns="0" rIns="0" bIns="0" rtlCol="0" anchor="ctr"/>
          <a:lstStyle/>
          <a:p>
            <a:pPr indent="0" marL="0">
              <a:buNone/>
            </a:pPr>
            <a:r>
              <a:rPr lang="en-US" sz="1250" dirty="0">
                <a:solidFill>
                  <a:srgbClr val="0F2540"/>
                </a:solidFill>
                <a:latin typeface="Calibri" pitchFamily="34" charset="0"/>
                <a:ea typeface="Calibri" pitchFamily="34" charset="-122"/>
                <a:cs typeface="Calibri" pitchFamily="34" charset="-120"/>
              </a:rPr>
              <a:t>The handout uses "high" — it works, but it is very noisy. "medium" is enough here. Low and medium are rate-limited, so a large scan may leave only a few lines: one reason real SOCs ship logs to a SIEM.</a:t>
            </a:r>
            <a:endParaRPr lang="en-US" sz="1250" dirty="0"/>
          </a:p>
        </p:txBody>
      </p:sp>
      <p:sp>
        <p:nvSpPr>
          <p:cNvPr id="7" name="Text 4"/>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8" name="Text 5"/>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CONCEPT</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Anatomy of a [UFW BLOCK] Log Line</a:t>
            </a:r>
            <a:endParaRPr lang="en-US" sz="2800" dirty="0"/>
          </a:p>
        </p:txBody>
      </p:sp>
      <p:sp>
        <p:nvSpPr>
          <p:cNvPr id="4" name="Shape 2"/>
          <p:cNvSpPr/>
          <p:nvPr/>
        </p:nvSpPr>
        <p:spPr>
          <a:xfrm>
            <a:off x="548640" y="1417320"/>
            <a:ext cx="11064240" cy="2331720"/>
          </a:xfrm>
          <a:prstGeom prst="roundRect">
            <a:avLst>
              <a:gd name="adj" fmla="val 3137"/>
            </a:avLst>
          </a:prstGeom>
          <a:solidFill>
            <a:srgbClr val="0F2540"/>
          </a:solidFill>
          <a:ln/>
        </p:spPr>
      </p:sp>
      <p:sp>
        <p:nvSpPr>
          <p:cNvPr id="5" name="Text 3"/>
          <p:cNvSpPr txBox="1"/>
          <p:nvPr/>
        </p:nvSpPr>
        <p:spPr>
          <a:xfrm>
            <a:off x="822960" y="1600200"/>
            <a:ext cx="10515600" cy="2011680"/>
          </a:xfrm>
          <a:prstGeom prst="rect">
            <a:avLst/>
          </a:prstGeom>
          <a:noFill/>
          <a:ln/>
        </p:spPr>
        <p:txBody>
          <a:bodyPr wrap="square" lIns="0" tIns="0" rIns="0" bIns="0" rtlCol="0" anchor="t"/>
          <a:lstStyle/>
          <a:p>
            <a:pPr indent="0" marL="0">
              <a:lnSpc>
                <a:spcPct val="130000"/>
              </a:lnSpc>
              <a:buNone/>
            </a:pPr>
            <a:r>
              <a:rPr lang="en-US" sz="1400" b="1" dirty="0">
                <a:solidFill>
                  <a:srgbClr val="E5C07B"/>
                </a:solidFill>
                <a:latin typeface="Courier New" pitchFamily="34" charset="0"/>
                <a:ea typeface="Courier New" pitchFamily="34" charset="-122"/>
                <a:cs typeface="Courier New" pitchFamily="34" charset="-120"/>
              </a:rPr>
              <a:t>Oct 26 10:15:23</a:t>
            </a:r>
            <a:pPr indent="0" marL="0">
              <a:lnSpc>
                <a:spcPct val="130000"/>
              </a:lnSpc>
              <a:buNone/>
            </a:pPr>
            <a:r>
              <a:rPr lang="en-US" sz="1400" dirty="0">
                <a:solidFill>
                  <a:srgbClr val="9FB3C0"/>
                </a:solidFill>
                <a:latin typeface="Courier New" pitchFamily="34" charset="0"/>
                <a:ea typeface="Courier New" pitchFamily="34" charset="-122"/>
                <a:cs typeface="Courier New" pitchFamily="34" charset="-120"/>
              </a:rPr>
              <a:t> ubuntu-target kernel: [ 4821.337] </a:t>
            </a:r>
            <a:pPr indent="0" marL="0">
              <a:lnSpc>
                <a:spcPct val="130000"/>
              </a:lnSpc>
              <a:buNone/>
            </a:pPr>
            <a:r>
              <a:rPr lang="en-US" sz="1400" b="1" dirty="0">
                <a:solidFill>
                  <a:srgbClr val="E06C75"/>
                </a:solidFill>
                <a:latin typeface="Courier New" pitchFamily="34" charset="0"/>
                <a:ea typeface="Courier New" pitchFamily="34" charset="-122"/>
                <a:cs typeface="Courier New" pitchFamily="34" charset="-120"/>
              </a:rPr>
              <a:t>[UFW BLOCK]</a:t>
            </a:r>
            <a:endParaRPr lang="en-US" sz="1400" dirty="0"/>
          </a:p>
          <a:p>
            <a:pPr indent="0" marL="0">
              <a:lnSpc>
                <a:spcPct val="130000"/>
              </a:lnSpc>
              <a:buNone/>
            </a:pPr>
            <a:r>
              <a:rPr lang="en-US" sz="1400" dirty="0">
                <a:solidFill>
                  <a:srgbClr val="9FB3C0"/>
                </a:solidFill>
                <a:latin typeface="Courier New" pitchFamily="34" charset="0"/>
                <a:ea typeface="Courier New" pitchFamily="34" charset="-122"/>
                <a:cs typeface="Courier New" pitchFamily="34" charset="-120"/>
              </a:rPr>
              <a:t>IN=enp0s3 OUT= MAC=08:00:27:aa:bb:cc:08:00:27:dd:ee:ff:08:00</a:t>
            </a:r>
            <a:endParaRPr lang="en-US" sz="1400" dirty="0"/>
          </a:p>
          <a:p>
            <a:pPr indent="0" marL="0">
              <a:lnSpc>
                <a:spcPct val="130000"/>
              </a:lnSpc>
              <a:buNone/>
            </a:pPr>
            <a:r>
              <a:rPr lang="en-US" sz="1400" b="1" dirty="0">
                <a:solidFill>
                  <a:srgbClr val="98C379"/>
                </a:solidFill>
                <a:latin typeface="Courier New" pitchFamily="34" charset="0"/>
                <a:ea typeface="Courier New" pitchFamily="34" charset="-122"/>
                <a:cs typeface="Courier New" pitchFamily="34" charset="-120"/>
              </a:rPr>
              <a:t>SRC=192.168.56.10</a:t>
            </a:r>
            <a:pPr indent="0" marL="0">
              <a:lnSpc>
                <a:spcPct val="130000"/>
              </a:lnSpc>
              <a:buNone/>
            </a:pPr>
            <a:r>
              <a:rPr lang="en-US" sz="1400" dirty="0">
                <a:solidFill>
                  <a:srgbClr val="E6F0F1"/>
                </a:solidFill>
                <a:latin typeface="Courier New" pitchFamily="34" charset="0"/>
                <a:ea typeface="Courier New" pitchFamily="34" charset="-122"/>
                <a:cs typeface="Courier New" pitchFamily="34" charset="-120"/>
              </a:rPr>
              <a:t> DST=192.168.56.20 LEN=44 TTL=58 ID=41872 </a:t>
            </a:r>
            <a:pPr indent="0" marL="0">
              <a:lnSpc>
                <a:spcPct val="130000"/>
              </a:lnSpc>
              <a:buNone/>
            </a:pPr>
            <a:r>
              <a:rPr lang="en-US" sz="1400" dirty="0">
                <a:solidFill>
                  <a:srgbClr val="61AFEF"/>
                </a:solidFill>
                <a:latin typeface="Courier New" pitchFamily="34" charset="0"/>
                <a:ea typeface="Courier New" pitchFamily="34" charset="-122"/>
                <a:cs typeface="Courier New" pitchFamily="34" charset="-120"/>
              </a:rPr>
              <a:t>PROTO=TCP</a:t>
            </a:r>
            <a:endParaRPr lang="en-US" sz="1400" dirty="0"/>
          </a:p>
          <a:p>
            <a:pPr indent="0" marL="0">
              <a:lnSpc>
                <a:spcPct val="130000"/>
              </a:lnSpc>
              <a:buNone/>
            </a:pPr>
            <a:r>
              <a:rPr lang="en-US" sz="1400" dirty="0">
                <a:solidFill>
                  <a:srgbClr val="E6F0F1"/>
                </a:solidFill>
                <a:latin typeface="Courier New" pitchFamily="34" charset="0"/>
                <a:ea typeface="Courier New" pitchFamily="34" charset="-122"/>
                <a:cs typeface="Courier New" pitchFamily="34" charset="-120"/>
              </a:rPr>
              <a:t>SPT=51821 </a:t>
            </a:r>
            <a:pPr indent="0" marL="0">
              <a:lnSpc>
                <a:spcPct val="130000"/>
              </a:lnSpc>
              <a:buNone/>
            </a:pPr>
            <a:r>
              <a:rPr lang="en-US" sz="1400" b="1" dirty="0">
                <a:solidFill>
                  <a:srgbClr val="E5C07B"/>
                </a:solidFill>
                <a:latin typeface="Courier New" pitchFamily="34" charset="0"/>
                <a:ea typeface="Courier New" pitchFamily="34" charset="-122"/>
                <a:cs typeface="Courier New" pitchFamily="34" charset="-120"/>
              </a:rPr>
              <a:t>DPT=80</a:t>
            </a:r>
            <a:pPr indent="0" marL="0">
              <a:lnSpc>
                <a:spcPct val="130000"/>
              </a:lnSpc>
              <a:buNone/>
            </a:pPr>
            <a:r>
              <a:rPr lang="en-US" sz="1400" dirty="0">
                <a:solidFill>
                  <a:srgbClr val="E6F0F1"/>
                </a:solidFill>
                <a:latin typeface="Courier New" pitchFamily="34" charset="0"/>
                <a:ea typeface="Courier New" pitchFamily="34" charset="-122"/>
                <a:cs typeface="Courier New" pitchFamily="34" charset="-120"/>
              </a:rPr>
              <a:t> WINDOW=1024 RES=0x00 </a:t>
            </a:r>
            <a:pPr indent="0" marL="0">
              <a:lnSpc>
                <a:spcPct val="130000"/>
              </a:lnSpc>
              <a:buNone/>
            </a:pPr>
            <a:r>
              <a:rPr lang="en-US" sz="1400" b="1" dirty="0">
                <a:solidFill>
                  <a:srgbClr val="61AFEF"/>
                </a:solidFill>
                <a:latin typeface="Courier New" pitchFamily="34" charset="0"/>
                <a:ea typeface="Courier New" pitchFamily="34" charset="-122"/>
                <a:cs typeface="Courier New" pitchFamily="34" charset="-120"/>
              </a:rPr>
              <a:t>SYN</a:t>
            </a:r>
            <a:pPr indent="0" marL="0">
              <a:lnSpc>
                <a:spcPct val="130000"/>
              </a:lnSpc>
              <a:buNone/>
            </a:pPr>
            <a:r>
              <a:rPr lang="en-US" sz="1400" dirty="0">
                <a:solidFill>
                  <a:srgbClr val="E6F0F1"/>
                </a:solidFill>
                <a:latin typeface="Courier New" pitchFamily="34" charset="0"/>
                <a:ea typeface="Courier New" pitchFamily="34" charset="-122"/>
                <a:cs typeface="Courier New" pitchFamily="34" charset="-120"/>
              </a:rPr>
              <a:t> URGP=0</a:t>
            </a:r>
            <a:endParaRPr lang="en-US" sz="1400" dirty="0"/>
          </a:p>
        </p:txBody>
      </p:sp>
      <p:sp>
        <p:nvSpPr>
          <p:cNvPr id="6" name="Text 4"/>
          <p:cNvSpPr txBox="1"/>
          <p:nvPr/>
        </p:nvSpPr>
        <p:spPr>
          <a:xfrm>
            <a:off x="548640" y="3813048"/>
            <a:ext cx="11064240" cy="274320"/>
          </a:xfrm>
          <a:prstGeom prst="rect">
            <a:avLst/>
          </a:prstGeom>
          <a:noFill/>
          <a:ln/>
        </p:spPr>
        <p:txBody>
          <a:bodyPr wrap="square" lIns="0" tIns="0" rIns="0" bIns="0" rtlCol="0" anchor="ctr"/>
          <a:lstStyle/>
          <a:p>
            <a:pPr indent="0" marL="0">
              <a:buNone/>
            </a:pPr>
            <a:r>
              <a:rPr lang="en-US" sz="1100" i="1" dirty="0">
                <a:solidFill>
                  <a:srgbClr val="5B6B7A"/>
                </a:solidFill>
                <a:latin typeface="Calibri" pitchFamily="34" charset="0"/>
                <a:ea typeface="Calibri" pitchFamily="34" charset="-122"/>
                <a:cs typeface="Calibri" pitchFamily="34" charset="-120"/>
              </a:rPr>
              <a:t>Illustrative example — your hostname, interface, IPs and timestamp format will differ (older systems print "Oct 26 10:15:23", newer ones an ISO date).</a:t>
            </a:r>
            <a:endParaRPr lang="en-US" sz="1100" dirty="0"/>
          </a:p>
        </p:txBody>
      </p:sp>
      <p:sp>
        <p:nvSpPr>
          <p:cNvPr id="7" name="Shape 5"/>
          <p:cNvSpPr/>
          <p:nvPr/>
        </p:nvSpPr>
        <p:spPr>
          <a:xfrm>
            <a:off x="548640" y="4251960"/>
            <a:ext cx="3520440" cy="1325880"/>
          </a:xfrm>
          <a:prstGeom prst="roundRect">
            <a:avLst>
              <a:gd name="adj" fmla="val 5517"/>
            </a:avLst>
          </a:prstGeom>
          <a:solidFill>
            <a:srgbClr val="EEF2F4"/>
          </a:solidFill>
          <a:ln/>
        </p:spPr>
      </p:sp>
      <p:sp>
        <p:nvSpPr>
          <p:cNvPr id="8" name="Text 6"/>
          <p:cNvSpPr txBox="1"/>
          <p:nvPr/>
        </p:nvSpPr>
        <p:spPr>
          <a:xfrm>
            <a:off x="731520" y="4343400"/>
            <a:ext cx="3154680" cy="502920"/>
          </a:xfrm>
          <a:prstGeom prst="rect">
            <a:avLst/>
          </a:prstGeom>
          <a:noFill/>
          <a:ln/>
        </p:spPr>
        <p:txBody>
          <a:bodyPr wrap="square" lIns="0" tIns="0" rIns="0" bIns="0" rtlCol="0" anchor="t"/>
          <a:lstStyle/>
          <a:p>
            <a:pPr indent="0" marL="0">
              <a:buNone/>
            </a:pPr>
            <a:r>
              <a:rPr lang="en-US" sz="1300" b="1" dirty="0">
                <a:solidFill>
                  <a:srgbClr val="0F2540"/>
                </a:solidFill>
                <a:latin typeface="Calibri" pitchFamily="34" charset="0"/>
                <a:ea typeface="Calibri" pitchFamily="34" charset="-122"/>
                <a:cs typeface="Calibri" pitchFamily="34" charset="-120"/>
              </a:rPr>
              <a:t>SOURCE IP</a:t>
            </a:r>
            <a:endParaRPr lang="en-US" sz="1300" dirty="0"/>
          </a:p>
          <a:p>
            <a:pPr indent="0" marL="0">
              <a:buNone/>
            </a:pPr>
            <a:r>
              <a:rPr lang="en-US" sz="1300" b="1" dirty="0">
                <a:solidFill>
                  <a:srgbClr val="4E7F3C"/>
                </a:solidFill>
                <a:latin typeface="Courier New" pitchFamily="34" charset="0"/>
                <a:ea typeface="Courier New" pitchFamily="34" charset="-122"/>
                <a:cs typeface="Courier New" pitchFamily="34" charset="-120"/>
              </a:rPr>
              <a:t>SRC=</a:t>
            </a:r>
            <a:endParaRPr lang="en-US" sz="1300" dirty="0"/>
          </a:p>
        </p:txBody>
      </p:sp>
      <p:sp>
        <p:nvSpPr>
          <p:cNvPr id="9" name="Text 7"/>
          <p:cNvSpPr txBox="1"/>
          <p:nvPr/>
        </p:nvSpPr>
        <p:spPr>
          <a:xfrm>
            <a:off x="731520" y="4892040"/>
            <a:ext cx="3154680" cy="640080"/>
          </a:xfrm>
          <a:prstGeom prst="rect">
            <a:avLst/>
          </a:prstGeom>
          <a:noFill/>
          <a:ln/>
        </p:spPr>
        <p:txBody>
          <a:bodyPr wrap="square" lIns="0" tIns="0" rIns="0" bIns="0" rtlCol="0" anchor="t"/>
          <a:lstStyle/>
          <a:p>
            <a:pPr indent="0" marL="0">
              <a:buNone/>
            </a:pPr>
            <a:r>
              <a:rPr lang="en-US" sz="1200" dirty="0">
                <a:solidFill>
                  <a:srgbClr val="1A2733"/>
                </a:solidFill>
                <a:latin typeface="Calibri" pitchFamily="34" charset="0"/>
                <a:ea typeface="Calibri" pitchFamily="34" charset="-122"/>
                <a:cs typeface="Calibri" pitchFamily="34" charset="-120"/>
              </a:rPr>
              <a:t>Who sent the probe — the attacker's address.</a:t>
            </a:r>
            <a:endParaRPr lang="en-US" sz="1200" dirty="0"/>
          </a:p>
        </p:txBody>
      </p:sp>
      <p:sp>
        <p:nvSpPr>
          <p:cNvPr id="10" name="Shape 8"/>
          <p:cNvSpPr/>
          <p:nvPr/>
        </p:nvSpPr>
        <p:spPr>
          <a:xfrm>
            <a:off x="4325112" y="4251960"/>
            <a:ext cx="3520440" cy="1325880"/>
          </a:xfrm>
          <a:prstGeom prst="roundRect">
            <a:avLst>
              <a:gd name="adj" fmla="val 5517"/>
            </a:avLst>
          </a:prstGeom>
          <a:solidFill>
            <a:srgbClr val="EEF2F4"/>
          </a:solidFill>
          <a:ln/>
        </p:spPr>
      </p:sp>
      <p:sp>
        <p:nvSpPr>
          <p:cNvPr id="11" name="Text 9"/>
          <p:cNvSpPr txBox="1"/>
          <p:nvPr/>
        </p:nvSpPr>
        <p:spPr>
          <a:xfrm>
            <a:off x="4507992" y="4343400"/>
            <a:ext cx="3154680" cy="502920"/>
          </a:xfrm>
          <a:prstGeom prst="rect">
            <a:avLst/>
          </a:prstGeom>
          <a:noFill/>
          <a:ln/>
        </p:spPr>
        <p:txBody>
          <a:bodyPr wrap="square" lIns="0" tIns="0" rIns="0" bIns="0" rtlCol="0" anchor="t"/>
          <a:lstStyle/>
          <a:p>
            <a:pPr indent="0" marL="0">
              <a:buNone/>
            </a:pPr>
            <a:r>
              <a:rPr lang="en-US" sz="1300" b="1" dirty="0">
                <a:solidFill>
                  <a:srgbClr val="0F2540"/>
                </a:solidFill>
                <a:latin typeface="Calibri" pitchFamily="34" charset="0"/>
                <a:ea typeface="Calibri" pitchFamily="34" charset="-122"/>
                <a:cs typeface="Calibri" pitchFamily="34" charset="-120"/>
              </a:rPr>
              <a:t>TARGETED PORT</a:t>
            </a:r>
            <a:endParaRPr lang="en-US" sz="1300" dirty="0"/>
          </a:p>
          <a:p>
            <a:pPr indent="0" marL="0">
              <a:buNone/>
            </a:pPr>
            <a:r>
              <a:rPr lang="en-US" sz="1300" b="1" dirty="0">
                <a:solidFill>
                  <a:srgbClr val="B8860B"/>
                </a:solidFill>
                <a:latin typeface="Courier New" pitchFamily="34" charset="0"/>
                <a:ea typeface="Courier New" pitchFamily="34" charset="-122"/>
                <a:cs typeface="Courier New" pitchFamily="34" charset="-120"/>
              </a:rPr>
              <a:t>DPT=</a:t>
            </a:r>
            <a:endParaRPr lang="en-US" sz="1300" dirty="0"/>
          </a:p>
        </p:txBody>
      </p:sp>
      <p:sp>
        <p:nvSpPr>
          <p:cNvPr id="12" name="Text 10"/>
          <p:cNvSpPr txBox="1"/>
          <p:nvPr/>
        </p:nvSpPr>
        <p:spPr>
          <a:xfrm>
            <a:off x="4507992" y="4892040"/>
            <a:ext cx="3154680" cy="640080"/>
          </a:xfrm>
          <a:prstGeom prst="rect">
            <a:avLst/>
          </a:prstGeom>
          <a:noFill/>
          <a:ln/>
        </p:spPr>
        <p:txBody>
          <a:bodyPr wrap="square" lIns="0" tIns="0" rIns="0" bIns="0" rtlCol="0" anchor="t"/>
          <a:lstStyle/>
          <a:p>
            <a:pPr indent="0" marL="0">
              <a:buNone/>
            </a:pPr>
            <a:r>
              <a:rPr lang="en-US" sz="1200" dirty="0">
                <a:solidFill>
                  <a:srgbClr val="1A2733"/>
                </a:solidFill>
                <a:latin typeface="Calibri" pitchFamily="34" charset="0"/>
                <a:ea typeface="Calibri" pitchFamily="34" charset="-122"/>
                <a:cs typeface="Calibri" pitchFamily="34" charset="-120"/>
              </a:rPr>
              <a:t>Destination port: the service being probed (80 = HTTP).</a:t>
            </a:r>
            <a:endParaRPr lang="en-US" sz="1200" dirty="0"/>
          </a:p>
        </p:txBody>
      </p:sp>
      <p:sp>
        <p:nvSpPr>
          <p:cNvPr id="13" name="Shape 11"/>
          <p:cNvSpPr/>
          <p:nvPr/>
        </p:nvSpPr>
        <p:spPr>
          <a:xfrm>
            <a:off x="8101584" y="4251960"/>
            <a:ext cx="3520440" cy="1325880"/>
          </a:xfrm>
          <a:prstGeom prst="roundRect">
            <a:avLst>
              <a:gd name="adj" fmla="val 5517"/>
            </a:avLst>
          </a:prstGeom>
          <a:solidFill>
            <a:srgbClr val="EEF2F4"/>
          </a:solidFill>
          <a:ln/>
        </p:spPr>
      </p:sp>
      <p:sp>
        <p:nvSpPr>
          <p:cNvPr id="14" name="Text 12"/>
          <p:cNvSpPr txBox="1"/>
          <p:nvPr/>
        </p:nvSpPr>
        <p:spPr>
          <a:xfrm>
            <a:off x="8284464" y="4343400"/>
            <a:ext cx="3154680" cy="502920"/>
          </a:xfrm>
          <a:prstGeom prst="rect">
            <a:avLst/>
          </a:prstGeom>
          <a:noFill/>
          <a:ln/>
        </p:spPr>
        <p:txBody>
          <a:bodyPr wrap="square" lIns="0" tIns="0" rIns="0" bIns="0" rtlCol="0" anchor="t"/>
          <a:lstStyle/>
          <a:p>
            <a:pPr indent="0" marL="0">
              <a:buNone/>
            </a:pPr>
            <a:r>
              <a:rPr lang="en-US" sz="1300" b="1" dirty="0">
                <a:solidFill>
                  <a:srgbClr val="0F2540"/>
                </a:solidFill>
                <a:latin typeface="Calibri" pitchFamily="34" charset="0"/>
                <a:ea typeface="Calibri" pitchFamily="34" charset="-122"/>
                <a:cs typeface="Calibri" pitchFamily="34" charset="-120"/>
              </a:rPr>
              <a:t>TIMESTAMP</a:t>
            </a:r>
            <a:endParaRPr lang="en-US" sz="1300" dirty="0"/>
          </a:p>
          <a:p>
            <a:pPr indent="0" marL="0">
              <a:buNone/>
            </a:pPr>
            <a:r>
              <a:rPr lang="en-US" sz="1300" b="1" dirty="0">
                <a:solidFill>
                  <a:srgbClr val="B8860B"/>
                </a:solidFill>
                <a:latin typeface="Courier New" pitchFamily="34" charset="0"/>
                <a:ea typeface="Courier New" pitchFamily="34" charset="-122"/>
                <a:cs typeface="Courier New" pitchFamily="34" charset="-120"/>
              </a:rPr>
              <a:t>start of line</a:t>
            </a:r>
            <a:endParaRPr lang="en-US" sz="1300" dirty="0"/>
          </a:p>
        </p:txBody>
      </p:sp>
      <p:sp>
        <p:nvSpPr>
          <p:cNvPr id="15" name="Text 13"/>
          <p:cNvSpPr txBox="1"/>
          <p:nvPr/>
        </p:nvSpPr>
        <p:spPr>
          <a:xfrm>
            <a:off x="8284464" y="4892040"/>
            <a:ext cx="3154680" cy="640080"/>
          </a:xfrm>
          <a:prstGeom prst="rect">
            <a:avLst/>
          </a:prstGeom>
          <a:noFill/>
          <a:ln/>
        </p:spPr>
        <p:txBody>
          <a:bodyPr wrap="square" lIns="0" tIns="0" rIns="0" bIns="0" rtlCol="0" anchor="t"/>
          <a:lstStyle/>
          <a:p>
            <a:pPr indent="0" marL="0">
              <a:buNone/>
            </a:pPr>
            <a:r>
              <a:rPr lang="en-US" sz="1200" dirty="0">
                <a:solidFill>
                  <a:srgbClr val="1A2733"/>
                </a:solidFill>
                <a:latin typeface="Calibri" pitchFamily="34" charset="0"/>
                <a:ea typeface="Calibri" pitchFamily="34" charset="-122"/>
                <a:cs typeface="Calibri" pitchFamily="34" charset="-120"/>
              </a:rPr>
              <a:t>When it happened. Needed to build an incident timeline.</a:t>
            </a:r>
            <a:endParaRPr lang="en-US" sz="1200" dirty="0"/>
          </a:p>
        </p:txBody>
      </p:sp>
      <p:sp>
        <p:nvSpPr>
          <p:cNvPr id="16" name="Text 14"/>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250" b="1" dirty="0">
                <a:solidFill>
                  <a:srgbClr val="0F2540"/>
                </a:solidFill>
                <a:latin typeface="Calibri" pitchFamily="34" charset="0"/>
                <a:ea typeface="Calibri" pitchFamily="34" charset="-122"/>
                <a:cs typeface="Calibri" pitchFamily="34" charset="-120"/>
              </a:rPr>
              <a:t>These three are your submission.  </a:t>
            </a:r>
            <a:pPr indent="0" marL="0">
              <a:buNone/>
            </a:pPr>
            <a:r>
              <a:rPr lang="en-US" sz="1250" dirty="0">
                <a:solidFill>
                  <a:srgbClr val="1A2733"/>
                </a:solidFill>
                <a:latin typeface="Calibri" pitchFamily="34" charset="0"/>
                <a:ea typeface="Calibri" pitchFamily="34" charset="-122"/>
                <a:cs typeface="Calibri" pitchFamily="34" charset="-120"/>
              </a:rPr>
              <a:t>Also useful: PROTO (TCP), SPT (the scanner's random source port), and the SYN flag — a bare SYN with no ACK is the signature of a SYN scan.</a:t>
            </a:r>
            <a:endParaRPr lang="en-US" sz="1250" dirty="0"/>
          </a:p>
        </p:txBody>
      </p:sp>
      <p:sp>
        <p:nvSpPr>
          <p:cNvPr id="17" name="Text 15"/>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18" name="Text 16"/>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7304F"/>
          </a:solidFill>
          <a:ln/>
        </p:spPr>
      </p:sp>
      <p:sp>
        <p:nvSpPr>
          <p:cNvPr id="3" name="Text 1"/>
          <p:cNvSpPr txBox="1"/>
          <p:nvPr/>
        </p:nvSpPr>
        <p:spPr>
          <a:xfrm>
            <a:off x="640080" y="2331720"/>
            <a:ext cx="5486400" cy="320040"/>
          </a:xfrm>
          <a:prstGeom prst="rect">
            <a:avLst/>
          </a:prstGeom>
          <a:noFill/>
          <a:ln/>
        </p:spPr>
        <p:txBody>
          <a:bodyPr wrap="square" lIns="0" tIns="0" rIns="0" bIns="0" rtlCol="0" anchor="ctr"/>
          <a:lstStyle/>
          <a:p>
            <a:pPr indent="0" marL="0">
              <a:buNone/>
            </a:pPr>
            <a:r>
              <a:rPr lang="en-US" sz="1400" b="1" spc="200" kern="0" dirty="0">
                <a:solidFill>
                  <a:srgbClr val="D9822B"/>
                </a:solidFill>
                <a:latin typeface="Calibri" pitchFamily="34" charset="0"/>
                <a:ea typeface="Calibri" pitchFamily="34" charset="-122"/>
                <a:cs typeface="Calibri" pitchFamily="34" charset="-120"/>
              </a:rPr>
              <a:t>PART 2 OF 3</a:t>
            </a:r>
            <a:endParaRPr lang="en-US" sz="1400" dirty="0"/>
          </a:p>
        </p:txBody>
      </p:sp>
      <p:sp>
        <p:nvSpPr>
          <p:cNvPr id="4" name="Text 2"/>
          <p:cNvSpPr txBox="1"/>
          <p:nvPr/>
        </p:nvSpPr>
        <p:spPr>
          <a:xfrm>
            <a:off x="640080" y="2697480"/>
            <a:ext cx="7863840" cy="118872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The Assignment</a:t>
            </a:r>
            <a:endParaRPr lang="en-US" sz="3400" dirty="0"/>
          </a:p>
        </p:txBody>
      </p:sp>
      <p:sp>
        <p:nvSpPr>
          <p:cNvPr id="5" name="Text 3"/>
          <p:cNvSpPr txBox="1"/>
          <p:nvPr/>
        </p:nvSpPr>
        <p:spPr>
          <a:xfrm>
            <a:off x="640080" y="3931920"/>
            <a:ext cx="7498080" cy="914400"/>
          </a:xfrm>
          <a:prstGeom prst="rect">
            <a:avLst/>
          </a:prstGeom>
          <a:noFill/>
          <a:ln/>
        </p:spPr>
        <p:txBody>
          <a:bodyPr wrap="square" lIns="0" tIns="0" rIns="0" bIns="0" rtlCol="0" anchor="t"/>
          <a:lstStyle/>
          <a:p>
            <a:pPr indent="0" marL="0">
              <a:lnSpc>
                <a:spcPct val="120000"/>
              </a:lnSpc>
              <a:buNone/>
            </a:pPr>
            <a:r>
              <a:rPr lang="en-US" sz="1500" dirty="0">
                <a:solidFill>
                  <a:srgbClr val="C9DADD"/>
                </a:solidFill>
                <a:latin typeface="Calibri" pitchFamily="34" charset="0"/>
                <a:ea typeface="Calibri" pitchFamily="34" charset="-122"/>
                <a:cs typeface="Calibri" pitchFamily="34" charset="-120"/>
              </a:rPr>
              <a:t>What you are asked to build, what it looks like when it works, and exactly what to hand in.</a:t>
            </a:r>
            <a:endParaRPr lang="en-US" sz="1500" dirty="0"/>
          </a:p>
        </p:txBody>
      </p:sp>
      <p:sp>
        <p:nvSpPr>
          <p:cNvPr id="6" name="Shape 4"/>
          <p:cNvSpPr/>
          <p:nvPr/>
        </p:nvSpPr>
        <p:spPr>
          <a:xfrm>
            <a:off x="9692640" y="2743200"/>
            <a:ext cx="1554480" cy="1554480"/>
          </a:xfrm>
          <a:prstGeom prst="ellipse">
            <a:avLst/>
          </a:prstGeom>
          <a:solidFill>
            <a:srgbClr val="0E7C86"/>
          </a:solidFill>
          <a:ln/>
        </p:spPr>
      </p:sp>
      <p:pic>
        <p:nvPicPr>
          <p:cNvPr id="7" name="Image 0" descr="/home/claude/soc_course/build/icons/clipboard_white.png">    </p:cNvPr>
          <p:cNvPicPr>
            <a:picLocks noChangeAspect="1"/>
          </p:cNvPicPr>
          <p:nvPr/>
        </p:nvPicPr>
        <p:blipFill>
          <a:blip r:embed="rId1"/>
          <a:stretch>
            <a:fillRect/>
          </a:stretch>
        </p:blipFill>
        <p:spPr>
          <a:xfrm>
            <a:off x="10065715" y="3116275"/>
            <a:ext cx="808330" cy="808330"/>
          </a:xfrm>
          <a:prstGeom prst="rect">
            <a:avLst/>
          </a:prstGeom>
        </p:spPr>
      </p:pic>
      <p:sp>
        <p:nvSpPr>
          <p:cNvPr id="8" name="Text 5"/>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9" name="Text 6"/>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ASSIGNMENT BRIEF</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Explore and Analyze Linux Logs for Network Scans</a:t>
            </a:r>
            <a:endParaRPr lang="en-US" sz="2800" dirty="0"/>
          </a:p>
        </p:txBody>
      </p:sp>
      <p:sp>
        <p:nvSpPr>
          <p:cNvPr id="4" name="Shape 2"/>
          <p:cNvSpPr/>
          <p:nvPr/>
        </p:nvSpPr>
        <p:spPr>
          <a:xfrm>
            <a:off x="548640" y="1554480"/>
            <a:ext cx="5394960" cy="4663440"/>
          </a:xfrm>
          <a:prstGeom prst="roundRect">
            <a:avLst>
              <a:gd name="adj" fmla="val 1569"/>
            </a:avLst>
          </a:prstGeom>
          <a:solidFill>
            <a:srgbClr val="EEF2F4"/>
          </a:solidFill>
          <a:ln/>
        </p:spPr>
      </p:sp>
      <p:sp>
        <p:nvSpPr>
          <p:cNvPr id="5" name="Shape 3"/>
          <p:cNvSpPr/>
          <p:nvPr/>
        </p:nvSpPr>
        <p:spPr>
          <a:xfrm>
            <a:off x="777240" y="1691640"/>
            <a:ext cx="457200" cy="457200"/>
          </a:xfrm>
          <a:prstGeom prst="ellipse">
            <a:avLst/>
          </a:prstGeom>
          <a:solidFill>
            <a:srgbClr val="0E7C86"/>
          </a:solidFill>
          <a:ln/>
        </p:spPr>
      </p:sp>
      <p:pic>
        <p:nvPicPr>
          <p:cNvPr id="6" name="Image 0" descr="/home/claude/soc_course/build/icons/server_white.png">    </p:cNvPr>
          <p:cNvPicPr>
            <a:picLocks noChangeAspect="1"/>
          </p:cNvPicPr>
          <p:nvPr/>
        </p:nvPicPr>
        <p:blipFill>
          <a:blip r:embed="rId1"/>
          <a:stretch>
            <a:fillRect/>
          </a:stretch>
        </p:blipFill>
        <p:spPr>
          <a:xfrm>
            <a:off x="886968" y="1801368"/>
            <a:ext cx="237744" cy="237744"/>
          </a:xfrm>
          <a:prstGeom prst="rect">
            <a:avLst/>
          </a:prstGeom>
        </p:spPr>
      </p:pic>
      <p:sp>
        <p:nvSpPr>
          <p:cNvPr id="7" name="Text 4"/>
          <p:cNvSpPr txBox="1"/>
          <p:nvPr/>
        </p:nvSpPr>
        <p:spPr>
          <a:xfrm>
            <a:off x="1371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Lab setup</a:t>
            </a:r>
            <a:endParaRPr lang="en-US" sz="1600" dirty="0"/>
          </a:p>
        </p:txBody>
      </p:sp>
      <p:sp>
        <p:nvSpPr>
          <p:cNvPr id="8" name="Text 5"/>
          <p:cNvSpPr txBox="1"/>
          <p:nvPr/>
        </p:nvSpPr>
        <p:spPr>
          <a:xfrm>
            <a:off x="822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Attacker machine: Kali Linux, with nmap.</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Target machine: Ubuntu, with ufw (or iptables).</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Evidence: /var/log/ufw.log on the Ubuntu target.</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Only scan systems you own or are authorised to test.</a:t>
            </a:r>
            <a:endParaRPr lang="en-US" sz="1550" dirty="0"/>
          </a:p>
        </p:txBody>
      </p:sp>
      <p:sp>
        <p:nvSpPr>
          <p:cNvPr id="9" name="Shape 6"/>
          <p:cNvSpPr/>
          <p:nvPr/>
        </p:nvSpPr>
        <p:spPr>
          <a:xfrm>
            <a:off x="6263640" y="1554480"/>
            <a:ext cx="5394960" cy="4663440"/>
          </a:xfrm>
          <a:prstGeom prst="roundRect">
            <a:avLst>
              <a:gd name="adj" fmla="val 1569"/>
            </a:avLst>
          </a:prstGeom>
          <a:solidFill>
            <a:srgbClr val="EEF2F4"/>
          </a:solidFill>
          <a:ln/>
        </p:spPr>
      </p:sp>
      <p:sp>
        <p:nvSpPr>
          <p:cNvPr id="10" name="Shape 7"/>
          <p:cNvSpPr/>
          <p:nvPr/>
        </p:nvSpPr>
        <p:spPr>
          <a:xfrm>
            <a:off x="6492240" y="1691640"/>
            <a:ext cx="457200" cy="457200"/>
          </a:xfrm>
          <a:prstGeom prst="ellipse">
            <a:avLst/>
          </a:prstGeom>
          <a:solidFill>
            <a:srgbClr val="D9822B"/>
          </a:solidFill>
          <a:ln/>
        </p:spPr>
      </p:sp>
      <p:pic>
        <p:nvPicPr>
          <p:cNvPr id="11" name="Image 1" descr="/home/claude/soc_course/build/icons/check_white.png">    </p:cNvPr>
          <p:cNvPicPr>
            <a:picLocks noChangeAspect="1"/>
          </p:cNvPicPr>
          <p:nvPr/>
        </p:nvPicPr>
        <p:blipFill>
          <a:blip r:embed="rId2"/>
          <a:stretch>
            <a:fillRect/>
          </a:stretch>
        </p:blipFill>
        <p:spPr>
          <a:xfrm>
            <a:off x="6601968" y="1801368"/>
            <a:ext cx="237744" cy="237744"/>
          </a:xfrm>
          <a:prstGeom prst="rect">
            <a:avLst/>
          </a:prstGeom>
        </p:spPr>
      </p:pic>
      <p:sp>
        <p:nvSpPr>
          <p:cNvPr id="12" name="Text 8"/>
          <p:cNvSpPr txBox="1"/>
          <p:nvPr/>
        </p:nvSpPr>
        <p:spPr>
          <a:xfrm>
            <a:off x="7086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Your tasks</a:t>
            </a:r>
            <a:endParaRPr lang="en-US" sz="1600" dirty="0"/>
          </a:p>
        </p:txBody>
      </p:sp>
      <p:sp>
        <p:nvSpPr>
          <p:cNvPr id="13" name="Text 9"/>
          <p:cNvSpPr txBox="1"/>
          <p:nvPr/>
        </p:nvSpPr>
        <p:spPr>
          <a:xfrm>
            <a:off x="6537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1. Install and enable UFW with logging on.</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2. Add a rule that denies HTTP (port 80) from the attacker.</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3. Watch the log live.</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4. From Kali, scan port 80 on the target.</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5. Find the blocked entry and screenshot it.</a:t>
            </a:r>
            <a:endParaRPr lang="en-US" sz="1550" dirty="0"/>
          </a:p>
        </p:txBody>
      </p:sp>
      <p:sp>
        <p:nvSpPr>
          <p:cNvPr id="14" name="Text 10"/>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15" name="Text 11"/>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ASSIGNMENT BRIEF</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The Lab at a Glance</a:t>
            </a:r>
            <a:endParaRPr lang="en-US" sz="2800" dirty="0"/>
          </a:p>
        </p:txBody>
      </p:sp>
      <p:sp>
        <p:nvSpPr>
          <p:cNvPr id="4" name="Shape 2"/>
          <p:cNvSpPr/>
          <p:nvPr/>
        </p:nvSpPr>
        <p:spPr>
          <a:xfrm>
            <a:off x="548640" y="1828800"/>
            <a:ext cx="2926080" cy="2194560"/>
          </a:xfrm>
          <a:prstGeom prst="roundRect">
            <a:avLst>
              <a:gd name="adj" fmla="val 4167"/>
            </a:avLst>
          </a:prstGeom>
          <a:solidFill>
            <a:srgbClr val="FBEBD8"/>
          </a:solidFill>
          <a:ln w="19050">
            <a:solidFill>
              <a:srgbClr val="D9822B"/>
            </a:solidFill>
            <a:prstDash val="solid"/>
          </a:ln>
        </p:spPr>
      </p:sp>
      <p:sp>
        <p:nvSpPr>
          <p:cNvPr id="5" name="Shape 3"/>
          <p:cNvSpPr/>
          <p:nvPr/>
        </p:nvSpPr>
        <p:spPr>
          <a:xfrm>
            <a:off x="777240" y="2011680"/>
            <a:ext cx="548640" cy="548640"/>
          </a:xfrm>
          <a:prstGeom prst="ellipse">
            <a:avLst/>
          </a:prstGeom>
          <a:solidFill>
            <a:srgbClr val="D9822B"/>
          </a:solidFill>
          <a:ln/>
        </p:spPr>
      </p:sp>
      <p:pic>
        <p:nvPicPr>
          <p:cNvPr id="6" name="Image 0" descr="/home/claude/soc_course/build/icons/crosshairs_white.png">    </p:cNvPr>
          <p:cNvPicPr>
            <a:picLocks noChangeAspect="1"/>
          </p:cNvPicPr>
          <p:nvPr/>
        </p:nvPicPr>
        <p:blipFill>
          <a:blip r:embed="rId1"/>
          <a:stretch>
            <a:fillRect/>
          </a:stretch>
        </p:blipFill>
        <p:spPr>
          <a:xfrm>
            <a:off x="908914" y="2143354"/>
            <a:ext cx="285293" cy="285293"/>
          </a:xfrm>
          <a:prstGeom prst="rect">
            <a:avLst/>
          </a:prstGeom>
        </p:spPr>
      </p:pic>
      <p:sp>
        <p:nvSpPr>
          <p:cNvPr id="7" name="Text 4"/>
          <p:cNvSpPr txBox="1"/>
          <p:nvPr/>
        </p:nvSpPr>
        <p:spPr>
          <a:xfrm>
            <a:off x="1463040" y="2011680"/>
            <a:ext cx="1920240" cy="548640"/>
          </a:xfrm>
          <a:prstGeom prst="rect">
            <a:avLst/>
          </a:prstGeom>
          <a:noFill/>
          <a:ln/>
        </p:spPr>
        <p:txBody>
          <a:bodyPr wrap="square" lIns="0" tIns="0" rIns="0" bIns="0" rtlCol="0" anchor="ctr"/>
          <a:lstStyle/>
          <a:p>
            <a:pPr indent="0" marL="0">
              <a:buNone/>
            </a:pPr>
            <a:r>
              <a:rPr lang="en-US" sz="1400" b="1" dirty="0">
                <a:solidFill>
                  <a:srgbClr val="0F2540"/>
                </a:solidFill>
                <a:latin typeface="Calibri" pitchFamily="34" charset="0"/>
                <a:ea typeface="Calibri" pitchFamily="34" charset="-122"/>
                <a:cs typeface="Calibri" pitchFamily="34" charset="-120"/>
              </a:rPr>
              <a:t>Attacker</a:t>
            </a:r>
            <a:endParaRPr lang="en-US" sz="1400" dirty="0"/>
          </a:p>
          <a:p>
            <a:pPr indent="0" marL="0">
              <a:buNone/>
            </a:pPr>
            <a:r>
              <a:rPr lang="en-US" sz="1400" b="1" dirty="0">
                <a:solidFill>
                  <a:srgbClr val="0F2540"/>
                </a:solidFill>
                <a:latin typeface="Calibri" pitchFamily="34" charset="0"/>
                <a:ea typeface="Calibri" pitchFamily="34" charset="-122"/>
                <a:cs typeface="Calibri" pitchFamily="34" charset="-120"/>
              </a:rPr>
              <a:t>Kali Linux</a:t>
            </a:r>
            <a:endParaRPr lang="en-US" sz="1400" dirty="0"/>
          </a:p>
        </p:txBody>
      </p:sp>
      <p:sp>
        <p:nvSpPr>
          <p:cNvPr id="8" name="Text 5"/>
          <p:cNvSpPr txBox="1"/>
          <p:nvPr/>
        </p:nvSpPr>
        <p:spPr>
          <a:xfrm>
            <a:off x="777240" y="2880360"/>
            <a:ext cx="2560320" cy="914400"/>
          </a:xfrm>
          <a:prstGeom prst="rect">
            <a:avLst/>
          </a:prstGeom>
          <a:noFill/>
          <a:ln/>
        </p:spPr>
        <p:txBody>
          <a:bodyPr wrap="square" lIns="0" tIns="0" rIns="0" bIns="0" rtlCol="0" anchor="t"/>
          <a:lstStyle/>
          <a:p>
            <a:pPr indent="0" marL="0">
              <a:buNone/>
            </a:pPr>
            <a:r>
              <a:rPr lang="en-US" sz="1250" dirty="0">
                <a:solidFill>
                  <a:srgbClr val="1A2733"/>
                </a:solidFill>
                <a:latin typeface="Courier New" pitchFamily="34" charset="0"/>
                <a:ea typeface="Courier New" pitchFamily="34" charset="-122"/>
                <a:cs typeface="Courier New" pitchFamily="34" charset="-120"/>
              </a:rPr>
              <a:t>ATTACKER_IP</a:t>
            </a:r>
            <a:endParaRPr lang="en-US" sz="1250" dirty="0"/>
          </a:p>
          <a:p>
            <a:pPr indent="0" marL="0">
              <a:buNone/>
            </a:pPr>
            <a:r>
              <a:rPr lang="en-US" sz="1250" dirty="0">
                <a:solidFill>
                  <a:srgbClr val="1A2733"/>
                </a:solidFill>
                <a:latin typeface="Courier New" pitchFamily="34" charset="0"/>
                <a:ea typeface="Courier New" pitchFamily="34" charset="-122"/>
                <a:cs typeface="Courier New" pitchFamily="34" charset="-120"/>
              </a:rPr>
              <a:t>nmap -sS -p 80</a:t>
            </a:r>
            <a:endParaRPr lang="en-US" sz="1250" dirty="0"/>
          </a:p>
        </p:txBody>
      </p:sp>
      <p:sp>
        <p:nvSpPr>
          <p:cNvPr id="9" name="Shape 6"/>
          <p:cNvSpPr/>
          <p:nvPr/>
        </p:nvSpPr>
        <p:spPr>
          <a:xfrm>
            <a:off x="4572000" y="1554480"/>
            <a:ext cx="3840480" cy="2743200"/>
          </a:xfrm>
          <a:prstGeom prst="roundRect">
            <a:avLst>
              <a:gd name="adj" fmla="val 3333"/>
            </a:avLst>
          </a:prstGeom>
          <a:solidFill>
            <a:srgbClr val="E4F0F1"/>
          </a:solidFill>
          <a:ln w="19050">
            <a:solidFill>
              <a:srgbClr val="0E7C86"/>
            </a:solidFill>
            <a:prstDash val="solid"/>
          </a:ln>
        </p:spPr>
      </p:sp>
      <p:sp>
        <p:nvSpPr>
          <p:cNvPr id="10" name="Shape 7"/>
          <p:cNvSpPr/>
          <p:nvPr/>
        </p:nvSpPr>
        <p:spPr>
          <a:xfrm>
            <a:off x="4800600" y="1737360"/>
            <a:ext cx="548640" cy="548640"/>
          </a:xfrm>
          <a:prstGeom prst="ellipse">
            <a:avLst/>
          </a:prstGeom>
          <a:solidFill>
            <a:srgbClr val="0E7C86"/>
          </a:solidFill>
          <a:ln/>
        </p:spPr>
      </p:sp>
      <p:pic>
        <p:nvPicPr>
          <p:cNvPr id="11" name="Image 1" descr="/home/claude/soc_course/build/icons/server_white.png">    </p:cNvPr>
          <p:cNvPicPr>
            <a:picLocks noChangeAspect="1"/>
          </p:cNvPicPr>
          <p:nvPr/>
        </p:nvPicPr>
        <p:blipFill>
          <a:blip r:embed="rId2"/>
          <a:stretch>
            <a:fillRect/>
          </a:stretch>
        </p:blipFill>
        <p:spPr>
          <a:xfrm>
            <a:off x="4932274" y="1869034"/>
            <a:ext cx="285293" cy="285293"/>
          </a:xfrm>
          <a:prstGeom prst="rect">
            <a:avLst/>
          </a:prstGeom>
        </p:spPr>
      </p:pic>
      <p:sp>
        <p:nvSpPr>
          <p:cNvPr id="12" name="Text 8"/>
          <p:cNvSpPr txBox="1"/>
          <p:nvPr/>
        </p:nvSpPr>
        <p:spPr>
          <a:xfrm>
            <a:off x="5486400" y="1737360"/>
            <a:ext cx="1920240" cy="548640"/>
          </a:xfrm>
          <a:prstGeom prst="rect">
            <a:avLst/>
          </a:prstGeom>
          <a:noFill/>
          <a:ln/>
        </p:spPr>
        <p:txBody>
          <a:bodyPr wrap="square" lIns="0" tIns="0" rIns="0" bIns="0" rtlCol="0" anchor="ctr"/>
          <a:lstStyle/>
          <a:p>
            <a:pPr indent="0" marL="0">
              <a:buNone/>
            </a:pPr>
            <a:r>
              <a:rPr lang="en-US" sz="1400" b="1" dirty="0">
                <a:solidFill>
                  <a:srgbClr val="0F2540"/>
                </a:solidFill>
                <a:latin typeface="Calibri" pitchFamily="34" charset="0"/>
                <a:ea typeface="Calibri" pitchFamily="34" charset="-122"/>
                <a:cs typeface="Calibri" pitchFamily="34" charset="-120"/>
              </a:rPr>
              <a:t>Target</a:t>
            </a:r>
            <a:endParaRPr lang="en-US" sz="1400" dirty="0"/>
          </a:p>
          <a:p>
            <a:pPr indent="0" marL="0">
              <a:buNone/>
            </a:pPr>
            <a:r>
              <a:rPr lang="en-US" sz="1400" b="1" dirty="0">
                <a:solidFill>
                  <a:srgbClr val="0F2540"/>
                </a:solidFill>
                <a:latin typeface="Calibri" pitchFamily="34" charset="0"/>
                <a:ea typeface="Calibri" pitchFamily="34" charset="-122"/>
                <a:cs typeface="Calibri" pitchFamily="34" charset="-120"/>
              </a:rPr>
              <a:t>Ubuntu</a:t>
            </a:r>
            <a:endParaRPr lang="en-US" sz="1400" dirty="0"/>
          </a:p>
        </p:txBody>
      </p:sp>
      <p:sp>
        <p:nvSpPr>
          <p:cNvPr id="13" name="Shape 9"/>
          <p:cNvSpPr/>
          <p:nvPr/>
        </p:nvSpPr>
        <p:spPr>
          <a:xfrm>
            <a:off x="4800600" y="2514600"/>
            <a:ext cx="3383280" cy="640080"/>
          </a:xfrm>
          <a:prstGeom prst="roundRect">
            <a:avLst>
              <a:gd name="adj" fmla="val 8571"/>
            </a:avLst>
          </a:prstGeom>
          <a:solidFill>
            <a:srgbClr val="0F2540"/>
          </a:solidFill>
          <a:ln/>
        </p:spPr>
      </p:sp>
      <p:sp>
        <p:nvSpPr>
          <p:cNvPr id="14" name="Text 10"/>
          <p:cNvSpPr txBox="1"/>
          <p:nvPr/>
        </p:nvSpPr>
        <p:spPr>
          <a:xfrm>
            <a:off x="4800600" y="2514600"/>
            <a:ext cx="33832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UFW firewall — deny ATTACKER_IP → 80</a:t>
            </a:r>
            <a:endParaRPr lang="en-US" sz="1200" dirty="0"/>
          </a:p>
        </p:txBody>
      </p:sp>
      <p:sp>
        <p:nvSpPr>
          <p:cNvPr id="15" name="Shape 11"/>
          <p:cNvSpPr/>
          <p:nvPr/>
        </p:nvSpPr>
        <p:spPr>
          <a:xfrm>
            <a:off x="4800600" y="3337560"/>
            <a:ext cx="3383280" cy="731520"/>
          </a:xfrm>
          <a:prstGeom prst="roundRect">
            <a:avLst>
              <a:gd name="adj" fmla="val 7500"/>
            </a:avLst>
          </a:prstGeom>
          <a:solidFill>
            <a:srgbClr val="FFFFFF"/>
          </a:solidFill>
          <a:ln w="12700">
            <a:solidFill>
              <a:srgbClr val="0E7C86"/>
            </a:solidFill>
            <a:prstDash val="solid"/>
          </a:ln>
        </p:spPr>
      </p:sp>
      <p:sp>
        <p:nvSpPr>
          <p:cNvPr id="16" name="Text 12"/>
          <p:cNvSpPr txBox="1"/>
          <p:nvPr/>
        </p:nvSpPr>
        <p:spPr>
          <a:xfrm>
            <a:off x="4800600" y="3337560"/>
            <a:ext cx="3383280" cy="731520"/>
          </a:xfrm>
          <a:prstGeom prst="rect">
            <a:avLst/>
          </a:prstGeom>
          <a:noFill/>
          <a:ln/>
        </p:spPr>
        <p:txBody>
          <a:bodyPr wrap="square" lIns="0" tIns="0" rIns="0" bIns="0" rtlCol="0" anchor="ctr"/>
          <a:lstStyle/>
          <a:p>
            <a:pPr algn="ctr" indent="0" marL="0">
              <a:buNone/>
            </a:pPr>
            <a:r>
              <a:rPr lang="en-US" sz="1100" dirty="0">
                <a:solidFill>
                  <a:srgbClr val="0F2540"/>
                </a:solidFill>
                <a:latin typeface="Courier New" pitchFamily="34" charset="0"/>
                <a:ea typeface="Courier New" pitchFamily="34" charset="-122"/>
                <a:cs typeface="Courier New" pitchFamily="34" charset="-120"/>
              </a:rPr>
              <a:t>/var/log/ufw.log</a:t>
            </a:r>
            <a:endParaRPr lang="en-US" sz="1100" dirty="0"/>
          </a:p>
          <a:p>
            <a:pPr algn="ctr" indent="0" marL="0">
              <a:buNone/>
            </a:pPr>
            <a:r>
              <a:rPr lang="en-US" sz="1100" dirty="0">
                <a:solidFill>
                  <a:srgbClr val="0F2540"/>
                </a:solidFill>
                <a:latin typeface="Courier New" pitchFamily="34" charset="0"/>
                <a:ea typeface="Courier New" pitchFamily="34" charset="-122"/>
                <a:cs typeface="Courier New" pitchFamily="34" charset="-120"/>
              </a:rPr>
              <a:t>[UFW BLOCK] … SRC=… DPT=80</a:t>
            </a:r>
            <a:endParaRPr lang="en-US" sz="1100" dirty="0"/>
          </a:p>
        </p:txBody>
      </p:sp>
      <p:sp>
        <p:nvSpPr>
          <p:cNvPr id="17" name="Shape 13"/>
          <p:cNvSpPr/>
          <p:nvPr/>
        </p:nvSpPr>
        <p:spPr>
          <a:xfrm>
            <a:off x="3520440" y="2926080"/>
            <a:ext cx="1005840" cy="0"/>
          </a:xfrm>
          <a:prstGeom prst="line">
            <a:avLst/>
          </a:prstGeom>
          <a:noFill/>
          <a:ln w="38100">
            <a:solidFill>
              <a:srgbClr val="B3261E"/>
            </a:solidFill>
            <a:prstDash val="solid"/>
            <a:tailEnd type="triangle"/>
          </a:ln>
        </p:spPr>
      </p:sp>
      <p:sp>
        <p:nvSpPr>
          <p:cNvPr id="18" name="Text 14"/>
          <p:cNvSpPr txBox="1"/>
          <p:nvPr/>
        </p:nvSpPr>
        <p:spPr>
          <a:xfrm>
            <a:off x="3429000" y="2560320"/>
            <a:ext cx="1234440" cy="274320"/>
          </a:xfrm>
          <a:prstGeom prst="rect">
            <a:avLst/>
          </a:prstGeom>
          <a:noFill/>
          <a:ln/>
        </p:spPr>
        <p:txBody>
          <a:bodyPr wrap="square" lIns="0" tIns="0" rIns="0" bIns="0" rtlCol="0" anchor="ctr"/>
          <a:lstStyle/>
          <a:p>
            <a:pPr algn="ctr" indent="0" marL="0">
              <a:buNone/>
            </a:pPr>
            <a:r>
              <a:rPr lang="en-US" sz="1100" b="1" dirty="0">
                <a:solidFill>
                  <a:srgbClr val="B3261E"/>
                </a:solidFill>
                <a:latin typeface="Calibri" pitchFamily="34" charset="0"/>
                <a:ea typeface="Calibri" pitchFamily="34" charset="-122"/>
                <a:cs typeface="Calibri" pitchFamily="34" charset="-120"/>
              </a:rPr>
              <a:t>SYN probes</a:t>
            </a:r>
            <a:endParaRPr lang="en-US" sz="1100" dirty="0"/>
          </a:p>
        </p:txBody>
      </p:sp>
      <p:sp>
        <p:nvSpPr>
          <p:cNvPr id="19" name="Shape 15"/>
          <p:cNvSpPr/>
          <p:nvPr/>
        </p:nvSpPr>
        <p:spPr>
          <a:xfrm>
            <a:off x="8732520" y="1554480"/>
            <a:ext cx="2880360" cy="2743200"/>
          </a:xfrm>
          <a:prstGeom prst="roundRect">
            <a:avLst>
              <a:gd name="adj" fmla="val 2667"/>
            </a:avLst>
          </a:prstGeom>
          <a:solidFill>
            <a:srgbClr val="EEF2F4"/>
          </a:solidFill>
          <a:ln/>
        </p:spPr>
      </p:sp>
      <p:sp>
        <p:nvSpPr>
          <p:cNvPr id="20" name="Text 16"/>
          <p:cNvSpPr txBox="1"/>
          <p:nvPr/>
        </p:nvSpPr>
        <p:spPr>
          <a:xfrm>
            <a:off x="8915400" y="1664208"/>
            <a:ext cx="2560320" cy="274320"/>
          </a:xfrm>
          <a:prstGeom prst="rect">
            <a:avLst/>
          </a:prstGeom>
          <a:noFill/>
          <a:ln/>
        </p:spPr>
        <p:txBody>
          <a:bodyPr wrap="square" lIns="0" tIns="0" rIns="0" bIns="0" rtlCol="0" anchor="ctr"/>
          <a:lstStyle/>
          <a:p>
            <a:pPr indent="0" marL="0">
              <a:buNone/>
            </a:pPr>
            <a:r>
              <a:rPr lang="en-US" sz="1200" b="1" dirty="0">
                <a:solidFill>
                  <a:srgbClr val="D9822B"/>
                </a:solidFill>
                <a:latin typeface="Calibri" pitchFamily="34" charset="0"/>
                <a:ea typeface="Calibri" pitchFamily="34" charset="-122"/>
                <a:cs typeface="Calibri" pitchFamily="34" charset="-120"/>
              </a:rPr>
              <a:t>BEFORE YOU START</a:t>
            </a:r>
            <a:endParaRPr lang="en-US" sz="1200" dirty="0"/>
          </a:p>
        </p:txBody>
      </p:sp>
      <p:sp>
        <p:nvSpPr>
          <p:cNvPr id="21" name="Text 17"/>
          <p:cNvSpPr txBox="1"/>
          <p:nvPr/>
        </p:nvSpPr>
        <p:spPr>
          <a:xfrm>
            <a:off x="8915400" y="2011680"/>
            <a:ext cx="256032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A2733"/>
                </a:solidFill>
                <a:latin typeface="Calibri" pitchFamily="34" charset="0"/>
                <a:ea typeface="Calibri" pitchFamily="34" charset="-122"/>
                <a:cs typeface="Calibri" pitchFamily="34" charset="-120"/>
              </a:rPr>
              <a:t>Both VMs can ping each other</a:t>
            </a:r>
            <a:endParaRPr lang="en-US" sz="1250" dirty="0"/>
          </a:p>
          <a:p>
            <a:pPr marL="177800" indent="-177800">
              <a:spcAft>
                <a:spcPts val="700"/>
              </a:spcAft>
              <a:buSzPct val="100000"/>
              <a:buChar char="▪"/>
            </a:pPr>
            <a:r>
              <a:rPr lang="en-US" sz="1250" dirty="0">
                <a:solidFill>
                  <a:srgbClr val="1A2733"/>
                </a:solidFill>
                <a:latin typeface="Calibri" pitchFamily="34" charset="0"/>
                <a:ea typeface="Calibri" pitchFamily="34" charset="-122"/>
                <a:cs typeface="Calibri" pitchFamily="34" charset="-120"/>
              </a:rPr>
              <a:t>You know both IP addresses</a:t>
            </a:r>
            <a:endParaRPr lang="en-US" sz="1250" dirty="0"/>
          </a:p>
          <a:p>
            <a:pPr marL="177800" indent="-177800">
              <a:spcAft>
                <a:spcPts val="700"/>
              </a:spcAft>
              <a:buSzPct val="100000"/>
              <a:buChar char="▪"/>
            </a:pPr>
            <a:r>
              <a:rPr lang="en-US" sz="1250" dirty="0">
                <a:solidFill>
                  <a:srgbClr val="1A2733"/>
                </a:solidFill>
                <a:latin typeface="Calibri" pitchFamily="34" charset="0"/>
                <a:ea typeface="Calibri" pitchFamily="34" charset="-122"/>
                <a:cs typeface="Calibri" pitchFamily="34" charset="-120"/>
              </a:rPr>
              <a:t>You have sudo on both</a:t>
            </a:r>
            <a:endParaRPr lang="en-US" sz="1250" dirty="0"/>
          </a:p>
          <a:p>
            <a:pPr marL="177800" indent="-177800">
              <a:spcAft>
                <a:spcPts val="700"/>
              </a:spcAft>
              <a:buSzPct val="100000"/>
              <a:buChar char="▪"/>
            </a:pPr>
            <a:r>
              <a:rPr lang="en-US" sz="1250" dirty="0">
                <a:solidFill>
                  <a:srgbClr val="1A2733"/>
                </a:solidFill>
                <a:latin typeface="Calibri" pitchFamily="34" charset="0"/>
                <a:ea typeface="Calibri" pitchFamily="34" charset="-122"/>
                <a:cs typeface="Calibri" pitchFamily="34" charset="-120"/>
              </a:rPr>
              <a:t>Put the VMs on a private / host-only network</a:t>
            </a:r>
            <a:endParaRPr lang="en-US" sz="1250" dirty="0"/>
          </a:p>
        </p:txBody>
      </p:sp>
      <p:sp>
        <p:nvSpPr>
          <p:cNvPr id="22" name="Shape 18"/>
          <p:cNvSpPr/>
          <p:nvPr/>
        </p:nvSpPr>
        <p:spPr>
          <a:xfrm>
            <a:off x="548640" y="4663440"/>
            <a:ext cx="11064240" cy="1463040"/>
          </a:xfrm>
          <a:prstGeom prst="roundRect">
            <a:avLst>
              <a:gd name="adj" fmla="val 5000"/>
            </a:avLst>
          </a:prstGeom>
          <a:solidFill>
            <a:srgbClr val="E4F0F1"/>
          </a:solidFill>
          <a:ln/>
        </p:spPr>
      </p:sp>
      <p:sp>
        <p:nvSpPr>
          <p:cNvPr id="23" name="Text 19"/>
          <p:cNvSpPr txBox="1"/>
          <p:nvPr/>
        </p:nvSpPr>
        <p:spPr>
          <a:xfrm>
            <a:off x="822960" y="4800600"/>
            <a:ext cx="10515600" cy="1188720"/>
          </a:xfrm>
          <a:prstGeom prst="rect">
            <a:avLst/>
          </a:prstGeom>
          <a:noFill/>
          <a:ln/>
        </p:spPr>
        <p:txBody>
          <a:bodyPr wrap="square" lIns="0" tIns="0" rIns="0" bIns="0" rtlCol="0" anchor="ctr"/>
          <a:lstStyle/>
          <a:p>
            <a:pPr indent="0" marL="0">
              <a:lnSpc>
                <a:spcPct val="115000"/>
              </a:lnSpc>
              <a:buNone/>
            </a:pPr>
            <a:r>
              <a:rPr lang="en-US" sz="1400" b="1" dirty="0">
                <a:solidFill>
                  <a:srgbClr val="0F2540"/>
                </a:solidFill>
                <a:latin typeface="Calibri" pitchFamily="34" charset="0"/>
                <a:ea typeface="Calibri" pitchFamily="34" charset="-122"/>
                <a:cs typeface="Calibri" pitchFamily="34" charset="-120"/>
              </a:rPr>
              <a:t>Placeholders used in this deck:  </a:t>
            </a:r>
            <a:pPr indent="0" marL="0">
              <a:lnSpc>
                <a:spcPct val="115000"/>
              </a:lnSpc>
              <a:buNone/>
            </a:pPr>
            <a:r>
              <a:rPr lang="en-US" sz="1400" dirty="0">
                <a:solidFill>
                  <a:srgbClr val="1A2733"/>
                </a:solidFill>
                <a:latin typeface="Calibri" pitchFamily="34" charset="0"/>
                <a:ea typeface="Calibri" pitchFamily="34" charset="-122"/>
                <a:cs typeface="Calibri" pitchFamily="34" charset="-120"/>
              </a:rPr>
              <a:t>ATTACKER_IP = the Kali machine's address.  TARGET_IP = the Ubuntu machine's address.  Replace both with your real lab addresses every time — a command with the placeholder left in will silently match nothing.</a:t>
            </a:r>
            <a:endParaRPr lang="en-US" sz="1400" dirty="0"/>
          </a:p>
        </p:txBody>
      </p:sp>
      <p:sp>
        <p:nvSpPr>
          <p:cNvPr id="24" name="Text 20"/>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5" name="Text 21"/>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ASSIGNMENT BRIEF</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What You Submit</a:t>
            </a:r>
            <a:endParaRPr lang="en-US" sz="2800" dirty="0"/>
          </a:p>
        </p:txBody>
      </p:sp>
      <p:sp>
        <p:nvSpPr>
          <p:cNvPr id="4" name="Shape 2"/>
          <p:cNvSpPr/>
          <p:nvPr/>
        </p:nvSpPr>
        <p:spPr>
          <a:xfrm>
            <a:off x="10561320" y="502920"/>
            <a:ext cx="685800" cy="685800"/>
          </a:xfrm>
          <a:prstGeom prst="ellipse">
            <a:avLst/>
          </a:prstGeom>
          <a:solidFill>
            <a:srgbClr val="0E7C86"/>
          </a:solidFill>
          <a:ln/>
        </p:spPr>
      </p:sp>
      <p:pic>
        <p:nvPicPr>
          <p:cNvPr id="5" name="Image 0" descr="/home/claude/soc_course/build/icons/clipboard_white.png">    </p:cNvPr>
          <p:cNvPicPr>
            <a:picLocks noChangeAspect="1"/>
          </p:cNvPicPr>
          <p:nvPr/>
        </p:nvPicPr>
        <p:blipFill>
          <a:blip r:embed="rId1"/>
          <a:stretch>
            <a:fillRect/>
          </a:stretch>
        </p:blipFill>
        <p:spPr>
          <a:xfrm>
            <a:off x="10725912" y="667512"/>
            <a:ext cx="356616" cy="356616"/>
          </a:xfrm>
          <a:prstGeom prst="rect">
            <a:avLst/>
          </a:prstGeom>
        </p:spPr>
      </p:pic>
      <p:sp>
        <p:nvSpPr>
          <p:cNvPr id="6" name="Text 3"/>
          <p:cNvSpPr txBox="1"/>
          <p:nvPr/>
        </p:nvSpPr>
        <p:spPr>
          <a:xfrm>
            <a:off x="548640" y="1600200"/>
            <a:ext cx="11064240" cy="46634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600" dirty="0">
                <a:solidFill>
                  <a:srgbClr val="1A2733"/>
                </a:solidFill>
                <a:latin typeface="Calibri" pitchFamily="34" charset="0"/>
                <a:ea typeface="Calibri" pitchFamily="34" charset="-122"/>
                <a:cs typeface="Calibri" pitchFamily="34" charset="-120"/>
              </a:rPr>
              <a:t>One screenshot of a log entry showing a blocked network connection caused by your port scan.</a:t>
            </a:r>
            <a:endParaRPr lang="en-US" sz="1600" dirty="0"/>
          </a:p>
          <a:p>
            <a:pPr marL="228600" indent="-228600">
              <a:lnSpc>
                <a:spcPct val="115000"/>
              </a:lnSpc>
              <a:spcAft>
                <a:spcPts val="1400"/>
              </a:spcAft>
              <a:buSzPct val="100000"/>
              <a:buChar char="▪"/>
            </a:pPr>
            <a:r>
              <a:rPr lang="en-US" sz="1600" dirty="0">
                <a:solidFill>
                  <a:srgbClr val="1A2733"/>
                </a:solidFill>
                <a:latin typeface="Calibri" pitchFamily="34" charset="0"/>
                <a:ea typeface="Calibri" pitchFamily="34" charset="-122"/>
                <a:cs typeface="Calibri" pitchFamily="34" charset="-120"/>
              </a:rPr>
              <a:t>It must show the source IP of the scan (SRC=…).</a:t>
            </a:r>
            <a:endParaRPr lang="en-US" sz="1600" dirty="0"/>
          </a:p>
          <a:p>
            <a:pPr marL="228600" indent="-228600">
              <a:lnSpc>
                <a:spcPct val="115000"/>
              </a:lnSpc>
              <a:spcAft>
                <a:spcPts val="1400"/>
              </a:spcAft>
              <a:buSzPct val="100000"/>
              <a:buChar char="▪"/>
            </a:pPr>
            <a:r>
              <a:rPr lang="en-US" sz="1600" dirty="0">
                <a:solidFill>
                  <a:srgbClr val="1A2733"/>
                </a:solidFill>
                <a:latin typeface="Calibri" pitchFamily="34" charset="0"/>
                <a:ea typeface="Calibri" pitchFamily="34" charset="-122"/>
                <a:cs typeface="Calibri" pitchFamily="34" charset="-120"/>
              </a:rPr>
              <a:t>It must show the targeted port (DPT=…).</a:t>
            </a:r>
            <a:endParaRPr lang="en-US" sz="1600" dirty="0"/>
          </a:p>
          <a:p>
            <a:pPr marL="228600" indent="-228600">
              <a:lnSpc>
                <a:spcPct val="115000"/>
              </a:lnSpc>
              <a:spcAft>
                <a:spcPts val="1400"/>
              </a:spcAft>
              <a:buSzPct val="100000"/>
              <a:buChar char="▪"/>
            </a:pPr>
            <a:r>
              <a:rPr lang="en-US" sz="1600" dirty="0">
                <a:solidFill>
                  <a:srgbClr val="1A2733"/>
                </a:solidFill>
                <a:latin typeface="Calibri" pitchFamily="34" charset="0"/>
                <a:ea typeface="Calibri" pitchFamily="34" charset="-122"/>
                <a:cs typeface="Calibri" pitchFamily="34" charset="-120"/>
              </a:rPr>
              <a:t>It must show the timestamp at the start of the line.</a:t>
            </a:r>
            <a:endParaRPr lang="en-US" sz="1600" dirty="0"/>
          </a:p>
        </p:txBody>
      </p:sp>
      <p:sp>
        <p:nvSpPr>
          <p:cNvPr id="7" name="Text 4"/>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8" name="Text 5"/>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2</a:t>
            </a:r>
            <a:endParaRPr lang="en-US" sz="800" dirty="0"/>
          </a:p>
        </p:txBody>
      </p:sp>
      <p:sp>
        <p:nvSpPr>
          <p:cNvPr id="9" name="Shape 6"/>
          <p:cNvSpPr/>
          <p:nvPr/>
        </p:nvSpPr>
        <p:spPr>
          <a:xfrm>
            <a:off x="548640" y="4572000"/>
            <a:ext cx="11064240" cy="1463040"/>
          </a:xfrm>
          <a:prstGeom prst="roundRect">
            <a:avLst>
              <a:gd name="adj" fmla="val 5000"/>
            </a:avLst>
          </a:prstGeom>
          <a:solidFill>
            <a:srgbClr val="E4F0F1"/>
          </a:solidFill>
          <a:ln/>
        </p:spPr>
      </p:sp>
      <p:sp>
        <p:nvSpPr>
          <p:cNvPr id="10" name="Text 7"/>
          <p:cNvSpPr txBox="1"/>
          <p:nvPr/>
        </p:nvSpPr>
        <p:spPr>
          <a:xfrm>
            <a:off x="822960" y="4709160"/>
            <a:ext cx="10515600" cy="1188720"/>
          </a:xfrm>
          <a:prstGeom prst="rect">
            <a:avLst/>
          </a:prstGeom>
          <a:noFill/>
          <a:ln/>
        </p:spPr>
        <p:txBody>
          <a:bodyPr wrap="square" lIns="0" tIns="0" rIns="0" bIns="0" rtlCol="0" anchor="ctr"/>
          <a:lstStyle/>
          <a:p>
            <a:pPr indent="0" marL="0">
              <a:lnSpc>
                <a:spcPct val="115000"/>
              </a:lnSpc>
              <a:buNone/>
            </a:pPr>
            <a:r>
              <a:rPr lang="en-US" sz="1400" i="1" dirty="0">
                <a:solidFill>
                  <a:srgbClr val="0F2540"/>
                </a:solidFill>
                <a:latin typeface="Calibri" pitchFamily="34" charset="0"/>
                <a:ea typeface="Calibri" pitchFamily="34" charset="-122"/>
                <a:cs typeface="Calibri" pitchFamily="34" charset="-120"/>
              </a:rPr>
              <a:t>Good screenshots also show [UFW BLOCK] and the command you used (for example the grep). If the SRC address is not your Kali machine, it will not be accepted — and keep the terminal prompt visible so it is clear which machine you captured 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7304F"/>
          </a:solidFill>
          <a:ln/>
        </p:spPr>
      </p:sp>
      <p:sp>
        <p:nvSpPr>
          <p:cNvPr id="3" name="Text 1"/>
          <p:cNvSpPr txBox="1"/>
          <p:nvPr/>
        </p:nvSpPr>
        <p:spPr>
          <a:xfrm>
            <a:off x="640080" y="2331720"/>
            <a:ext cx="5486400" cy="320040"/>
          </a:xfrm>
          <a:prstGeom prst="rect">
            <a:avLst/>
          </a:prstGeom>
          <a:noFill/>
          <a:ln/>
        </p:spPr>
        <p:txBody>
          <a:bodyPr wrap="square" lIns="0" tIns="0" rIns="0" bIns="0" rtlCol="0" anchor="ctr"/>
          <a:lstStyle/>
          <a:p>
            <a:pPr indent="0" marL="0">
              <a:buNone/>
            </a:pPr>
            <a:r>
              <a:rPr lang="en-US" sz="1400" b="1" spc="200" kern="0" dirty="0">
                <a:solidFill>
                  <a:srgbClr val="D9822B"/>
                </a:solidFill>
                <a:latin typeface="Calibri" pitchFamily="34" charset="0"/>
                <a:ea typeface="Calibri" pitchFamily="34" charset="-122"/>
                <a:cs typeface="Calibri" pitchFamily="34" charset="-120"/>
              </a:rPr>
              <a:t>PART 3 OF 3</a:t>
            </a:r>
            <a:endParaRPr lang="en-US" sz="1400" dirty="0"/>
          </a:p>
        </p:txBody>
      </p:sp>
      <p:sp>
        <p:nvSpPr>
          <p:cNvPr id="4" name="Text 2"/>
          <p:cNvSpPr txBox="1"/>
          <p:nvPr/>
        </p:nvSpPr>
        <p:spPr>
          <a:xfrm>
            <a:off x="640080" y="2697480"/>
            <a:ext cx="7863840" cy="118872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The Walkthrough</a:t>
            </a:r>
            <a:endParaRPr lang="en-US" sz="3400" dirty="0"/>
          </a:p>
        </p:txBody>
      </p:sp>
      <p:sp>
        <p:nvSpPr>
          <p:cNvPr id="5" name="Text 3"/>
          <p:cNvSpPr txBox="1"/>
          <p:nvPr/>
        </p:nvSpPr>
        <p:spPr>
          <a:xfrm>
            <a:off x="640080" y="3931920"/>
            <a:ext cx="7498080" cy="914400"/>
          </a:xfrm>
          <a:prstGeom prst="rect">
            <a:avLst/>
          </a:prstGeom>
          <a:noFill/>
          <a:ln/>
        </p:spPr>
        <p:txBody>
          <a:bodyPr wrap="square" lIns="0" tIns="0" rIns="0" bIns="0" rtlCol="0" anchor="t"/>
          <a:lstStyle/>
          <a:p>
            <a:pPr indent="0" marL="0">
              <a:lnSpc>
                <a:spcPct val="120000"/>
              </a:lnSpc>
              <a:buNone/>
            </a:pPr>
            <a:r>
              <a:rPr lang="en-US" sz="1500" dirty="0">
                <a:solidFill>
                  <a:srgbClr val="C9DADD"/>
                </a:solidFill>
                <a:latin typeface="Calibri" pitchFamily="34" charset="0"/>
                <a:ea typeface="Calibri" pitchFamily="34" charset="-122"/>
                <a:cs typeface="Calibri" pitchFamily="34" charset="-120"/>
              </a:rPr>
              <a:t>Seven steps, in the right order: logging must be on before the scan, or there is nothing to find.</a:t>
            </a:r>
            <a:endParaRPr lang="en-US" sz="1500" dirty="0"/>
          </a:p>
        </p:txBody>
      </p:sp>
      <p:sp>
        <p:nvSpPr>
          <p:cNvPr id="6" name="Shape 4"/>
          <p:cNvSpPr/>
          <p:nvPr/>
        </p:nvSpPr>
        <p:spPr>
          <a:xfrm>
            <a:off x="9692640" y="2743200"/>
            <a:ext cx="1554480" cy="1554480"/>
          </a:xfrm>
          <a:prstGeom prst="ellipse">
            <a:avLst/>
          </a:prstGeom>
          <a:solidFill>
            <a:srgbClr val="0E7C86"/>
          </a:solidFill>
          <a:ln/>
        </p:spPr>
      </p:sp>
      <p:pic>
        <p:nvPicPr>
          <p:cNvPr id="7" name="Image 0" descr="/home/claude/soc_course/build/icons/terminal_white.png">    </p:cNvPr>
          <p:cNvPicPr>
            <a:picLocks noChangeAspect="1"/>
          </p:cNvPicPr>
          <p:nvPr/>
        </p:nvPicPr>
        <p:blipFill>
          <a:blip r:embed="rId1"/>
          <a:stretch>
            <a:fillRect/>
          </a:stretch>
        </p:blipFill>
        <p:spPr>
          <a:xfrm>
            <a:off x="10065715" y="3116275"/>
            <a:ext cx="808330" cy="808330"/>
          </a:xfrm>
          <a:prstGeom prst="rect">
            <a:avLst/>
          </a:prstGeom>
        </p:spPr>
      </p:pic>
      <p:sp>
        <p:nvSpPr>
          <p:cNvPr id="8" name="Text 5"/>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9" name="Text 6"/>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PART 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WALKTHROUGH — STEP 0</a:t>
            </a:r>
            <a:endParaRPr lang="en-US" sz="1300" dirty="0"/>
          </a:p>
        </p:txBody>
      </p:sp>
      <p:sp>
        <p:nvSpPr>
          <p:cNvPr id="3" name="Text 1"/>
          <p:cNvSpPr txBox="1"/>
          <p:nvPr/>
        </p:nvSpPr>
        <p:spPr>
          <a:xfrm>
            <a:off x="502920" y="658368"/>
            <a:ext cx="813816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Get Your Two IP Addresses</a:t>
            </a:r>
            <a:endParaRPr lang="en-US" sz="2800" dirty="0"/>
          </a:p>
        </p:txBody>
      </p:sp>
      <p:sp>
        <p:nvSpPr>
          <p:cNvPr id="4" name="Shape 2"/>
          <p:cNvSpPr/>
          <p:nvPr/>
        </p:nvSpPr>
        <p:spPr>
          <a:xfrm>
            <a:off x="8915400" y="457200"/>
            <a:ext cx="2697480" cy="457200"/>
          </a:xfrm>
          <a:prstGeom prst="roundRect">
            <a:avLst>
              <a:gd name="adj" fmla="val 50000"/>
            </a:avLst>
          </a:prstGeom>
          <a:solidFill>
            <a:srgbClr val="0F2540"/>
          </a:solidFill>
          <a:ln/>
        </p:spPr>
      </p:sp>
      <p:sp>
        <p:nvSpPr>
          <p:cNvPr id="5" name="Text 3"/>
          <p:cNvSpPr txBox="1"/>
          <p:nvPr/>
        </p:nvSpPr>
        <p:spPr>
          <a:xfrm>
            <a:off x="8915400" y="457200"/>
            <a:ext cx="2697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BOTH MACHINES</a:t>
            </a:r>
            <a:endParaRPr lang="en-US" sz="1250" dirty="0"/>
          </a:p>
        </p:txBody>
      </p:sp>
      <p:sp>
        <p:nvSpPr>
          <p:cNvPr id="6" name="Shape 4"/>
          <p:cNvSpPr/>
          <p:nvPr/>
        </p:nvSpPr>
        <p:spPr>
          <a:xfrm>
            <a:off x="548640" y="1554480"/>
            <a:ext cx="6720840" cy="3520440"/>
          </a:xfrm>
          <a:prstGeom prst="roundRect">
            <a:avLst>
              <a:gd name="adj" fmla="val 2078"/>
            </a:avLst>
          </a:prstGeom>
          <a:solidFill>
            <a:srgbClr val="0F2540"/>
          </a:solidFill>
          <a:ln/>
        </p:spPr>
      </p:sp>
      <p:sp>
        <p:nvSpPr>
          <p:cNvPr id="7" name="Shape 5"/>
          <p:cNvSpPr/>
          <p:nvPr/>
        </p:nvSpPr>
        <p:spPr>
          <a:xfrm>
            <a:off x="749808" y="1719072"/>
            <a:ext cx="128016" cy="128016"/>
          </a:xfrm>
          <a:prstGeom prst="ellipse">
            <a:avLst/>
          </a:prstGeom>
          <a:solidFill>
            <a:srgbClr val="E06C75"/>
          </a:solidFill>
          <a:ln/>
        </p:spPr>
      </p:sp>
      <p:sp>
        <p:nvSpPr>
          <p:cNvPr id="8" name="Shape 6"/>
          <p:cNvSpPr/>
          <p:nvPr/>
        </p:nvSpPr>
        <p:spPr>
          <a:xfrm>
            <a:off x="987552" y="1719072"/>
            <a:ext cx="128016" cy="128016"/>
          </a:xfrm>
          <a:prstGeom prst="ellipse">
            <a:avLst/>
          </a:prstGeom>
          <a:solidFill>
            <a:srgbClr val="E5C07B"/>
          </a:solidFill>
          <a:ln/>
        </p:spPr>
      </p:sp>
      <p:sp>
        <p:nvSpPr>
          <p:cNvPr id="9" name="Shape 7"/>
          <p:cNvSpPr/>
          <p:nvPr/>
        </p:nvSpPr>
        <p:spPr>
          <a:xfrm>
            <a:off x="1225296" y="1719072"/>
            <a:ext cx="128016" cy="128016"/>
          </a:xfrm>
          <a:prstGeom prst="ellipse">
            <a:avLst/>
          </a:prstGeom>
          <a:solidFill>
            <a:srgbClr val="98C379"/>
          </a:solidFill>
          <a:ln/>
        </p:spPr>
      </p:sp>
      <p:sp>
        <p:nvSpPr>
          <p:cNvPr id="10" name="Text 8"/>
          <p:cNvSpPr txBox="1"/>
          <p:nvPr/>
        </p:nvSpPr>
        <p:spPr>
          <a:xfrm>
            <a:off x="777240" y="2011680"/>
            <a:ext cx="6355080" cy="2926080"/>
          </a:xfrm>
          <a:prstGeom prst="rect">
            <a:avLst/>
          </a:prstGeom>
          <a:noFill/>
          <a:ln/>
        </p:spPr>
        <p:txBody>
          <a:bodyPr wrap="square" lIns="0" tIns="0" rIns="0" bIns="0" rtlCol="0" anchor="t"/>
          <a:lstStyle/>
          <a:p>
            <a:pPr indent="0" marL="0">
              <a:lnSpc>
                <a:spcPct val="120000"/>
              </a:lnSpc>
              <a:buNone/>
            </a:pPr>
            <a:r>
              <a:rPr lang="en-US" sz="1350" dirty="0">
                <a:solidFill>
                  <a:srgbClr val="7F8C99"/>
                </a:solidFill>
                <a:latin typeface="Courier New" pitchFamily="34" charset="0"/>
                <a:ea typeface="Courier New" pitchFamily="34" charset="-122"/>
                <a:cs typeface="Courier New" pitchFamily="34" charset="-120"/>
              </a:rPr>
              <a:t># On Kali and on Ubuntu</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ip -br a</a:t>
            </a:r>
            <a:endParaRPr lang="en-US" sz="1350" dirty="0"/>
          </a:p>
          <a:p>
            <a:pPr indent="0" marL="0">
              <a:lnSpc>
                <a:spcPct val="120000"/>
              </a:lnSpc>
              <a:buNone/>
            </a:pPr>
            <a:endParaRPr lang="en-US" sz="1350" dirty="0"/>
          </a:p>
          <a:p>
            <a:pPr indent="0" marL="0">
              <a:lnSpc>
                <a:spcPct val="120000"/>
              </a:lnSpc>
              <a:buNone/>
            </a:pPr>
            <a:r>
              <a:rPr lang="en-US" sz="1350" dirty="0">
                <a:solidFill>
                  <a:srgbClr val="7F8C99"/>
                </a:solidFill>
                <a:latin typeface="Courier New" pitchFamily="34" charset="0"/>
                <a:ea typeface="Courier New" pitchFamily="34" charset="-122"/>
                <a:cs typeface="Courier New" pitchFamily="34" charset="-120"/>
              </a:rPr>
              <a:t># From Kali: confirm you can reach the target</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ping -c 2 TARGET_IP</a:t>
            </a:r>
            <a:endParaRPr lang="en-US" sz="1350" dirty="0"/>
          </a:p>
          <a:p>
            <a:pPr indent="0" marL="0">
              <a:lnSpc>
                <a:spcPct val="120000"/>
              </a:lnSpc>
              <a:buNone/>
            </a:pPr>
            <a:endParaRPr lang="en-US" sz="1350" dirty="0"/>
          </a:p>
          <a:p>
            <a:pPr indent="0" marL="0">
              <a:lnSpc>
                <a:spcPct val="120000"/>
              </a:lnSpc>
              <a:buNone/>
            </a:pPr>
            <a:r>
              <a:rPr lang="en-US" sz="1350" dirty="0">
                <a:solidFill>
                  <a:srgbClr val="7F8C99"/>
                </a:solidFill>
                <a:latin typeface="Courier New" pitchFamily="34" charset="0"/>
                <a:ea typeface="Courier New" pitchFamily="34" charset="-122"/>
                <a:cs typeface="Courier New" pitchFamily="34" charset="-120"/>
              </a:rPr>
              <a:t># Optional, on Ubuntu: give port 80 a real service</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apt install -y apache2</a:t>
            </a:r>
            <a:endParaRPr lang="en-US" sz="1350" dirty="0"/>
          </a:p>
        </p:txBody>
      </p:sp>
      <p:sp>
        <p:nvSpPr>
          <p:cNvPr id="11" name="Shape 9"/>
          <p:cNvSpPr/>
          <p:nvPr/>
        </p:nvSpPr>
        <p:spPr>
          <a:xfrm>
            <a:off x="7498080" y="1554480"/>
            <a:ext cx="4114800" cy="1735531"/>
          </a:xfrm>
          <a:prstGeom prst="roundRect">
            <a:avLst>
              <a:gd name="adj" fmla="val 4215"/>
            </a:avLst>
          </a:prstGeom>
          <a:solidFill>
            <a:srgbClr val="E4F0F1"/>
          </a:solidFill>
          <a:ln/>
        </p:spPr>
      </p:sp>
      <p:sp>
        <p:nvSpPr>
          <p:cNvPr id="12" name="Text 10"/>
          <p:cNvSpPr txBox="1"/>
          <p:nvPr/>
        </p:nvSpPr>
        <p:spPr>
          <a:xfrm>
            <a:off x="7699248" y="1673352"/>
            <a:ext cx="3749040" cy="274320"/>
          </a:xfrm>
          <a:prstGeom prst="rect">
            <a:avLst/>
          </a:prstGeom>
          <a:noFill/>
          <a:ln/>
        </p:spPr>
        <p:txBody>
          <a:bodyPr wrap="square" lIns="0" tIns="0" rIns="0" bIns="0" rtlCol="0" anchor="ctr"/>
          <a:lstStyle/>
          <a:p>
            <a:pPr indent="0" marL="0">
              <a:buNone/>
            </a:pPr>
            <a:r>
              <a:rPr lang="en-US" sz="1150" b="1" dirty="0">
                <a:solidFill>
                  <a:srgbClr val="0B5F67"/>
                </a:solidFill>
                <a:latin typeface="Calibri" pitchFamily="34" charset="0"/>
                <a:ea typeface="Calibri" pitchFamily="34" charset="-122"/>
                <a:cs typeface="Calibri" pitchFamily="34" charset="-120"/>
              </a:rPr>
              <a:t>✓  WHAT YOU SHOULD SEE</a:t>
            </a:r>
            <a:endParaRPr lang="en-US" sz="1150" dirty="0"/>
          </a:p>
        </p:txBody>
      </p:sp>
      <p:sp>
        <p:nvSpPr>
          <p:cNvPr id="13" name="Text 11"/>
          <p:cNvSpPr txBox="1"/>
          <p:nvPr/>
        </p:nvSpPr>
        <p:spPr>
          <a:xfrm>
            <a:off x="7699248" y="1984248"/>
            <a:ext cx="3749040" cy="1232611"/>
          </a:xfrm>
          <a:prstGeom prst="rect">
            <a:avLst/>
          </a:prstGeom>
          <a:noFill/>
          <a:ln/>
        </p:spPr>
        <p:txBody>
          <a:bodyPr wrap="square" lIns="0" tIns="0" rIns="0" bIns="0" rtlCol="0" anchor="t"/>
          <a:lstStyle/>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One address per machine, e.g. 192.168.56.10 (Kali) and 192.168.56.20 (Ubuntu). The ping replies show 0% packet loss.</a:t>
            </a:r>
            <a:endParaRPr lang="en-US" sz="1300" dirty="0"/>
          </a:p>
        </p:txBody>
      </p:sp>
      <p:sp>
        <p:nvSpPr>
          <p:cNvPr id="14" name="Shape 12"/>
          <p:cNvSpPr/>
          <p:nvPr/>
        </p:nvSpPr>
        <p:spPr>
          <a:xfrm>
            <a:off x="7498080" y="3472891"/>
            <a:ext cx="4114800" cy="1602029"/>
          </a:xfrm>
          <a:prstGeom prst="roundRect">
            <a:avLst>
              <a:gd name="adj" fmla="val 4566"/>
            </a:avLst>
          </a:prstGeom>
          <a:solidFill>
            <a:srgbClr val="EEF2F4"/>
          </a:solidFill>
          <a:ln/>
        </p:spPr>
      </p:sp>
      <p:sp>
        <p:nvSpPr>
          <p:cNvPr id="15" name="Text 13"/>
          <p:cNvSpPr txBox="1"/>
          <p:nvPr/>
        </p:nvSpPr>
        <p:spPr>
          <a:xfrm>
            <a:off x="7699248" y="3591763"/>
            <a:ext cx="3749040" cy="274320"/>
          </a:xfrm>
          <a:prstGeom prst="rect">
            <a:avLst/>
          </a:prstGeom>
          <a:noFill/>
          <a:ln/>
        </p:spPr>
        <p:txBody>
          <a:bodyPr wrap="square" lIns="0" tIns="0" rIns="0" bIns="0" rtlCol="0" anchor="ctr"/>
          <a:lstStyle/>
          <a:p>
            <a:pPr indent="0" marL="0">
              <a:buNone/>
            </a:pPr>
            <a:r>
              <a:rPr lang="en-US" sz="1150" b="1" dirty="0">
                <a:solidFill>
                  <a:srgbClr val="5B6B7A"/>
                </a:solidFill>
                <a:latin typeface="Calibri" pitchFamily="34" charset="0"/>
                <a:ea typeface="Calibri" pitchFamily="34" charset="-122"/>
                <a:cs typeface="Calibri" pitchFamily="34" charset="-120"/>
              </a:rPr>
              <a:t>?  WHY WE DO THIS</a:t>
            </a:r>
            <a:endParaRPr lang="en-US" sz="1150" dirty="0"/>
          </a:p>
        </p:txBody>
      </p:sp>
      <p:sp>
        <p:nvSpPr>
          <p:cNvPr id="16" name="Text 14"/>
          <p:cNvSpPr txBox="1"/>
          <p:nvPr/>
        </p:nvSpPr>
        <p:spPr>
          <a:xfrm>
            <a:off x="7699248" y="3902659"/>
            <a:ext cx="3749040" cy="916229"/>
          </a:xfrm>
          <a:prstGeom prst="rect">
            <a:avLst/>
          </a:prstGeom>
          <a:noFill/>
          <a:ln/>
        </p:spPr>
        <p:txBody>
          <a:bodyPr wrap="square" lIns="0" tIns="0" rIns="0" bIns="0" rtlCol="0" anchor="t"/>
          <a:lstStyle/>
          <a:p>
            <a:pPr indent="0" marL="0">
              <a:lnSpc>
                <a:spcPct val="112000"/>
              </a:lnSpc>
              <a:buNone/>
            </a:pPr>
            <a:r>
              <a:rPr lang="en-US" sz="1300" dirty="0">
                <a:solidFill>
                  <a:srgbClr val="1A2733"/>
                </a:solidFill>
                <a:latin typeface="Calibri" pitchFamily="34" charset="0"/>
                <a:ea typeface="Calibri" pitchFamily="34" charset="-122"/>
                <a:cs typeface="Calibri" pitchFamily="34" charset="-120"/>
              </a:rPr>
              <a:t>You need ATTACKER_IP for the firewall rule and the log search, and TARGET_IP for the scan. Apache is optional but lets you see port 80 "open" before you block it.</a:t>
            </a:r>
            <a:endParaRPr lang="en-US" sz="1300" dirty="0"/>
          </a:p>
        </p:txBody>
      </p:sp>
      <p:sp>
        <p:nvSpPr>
          <p:cNvPr id="17" name="Shape 15"/>
          <p:cNvSpPr/>
          <p:nvPr/>
        </p:nvSpPr>
        <p:spPr>
          <a:xfrm>
            <a:off x="548640" y="5257800"/>
            <a:ext cx="11064240" cy="1005840"/>
          </a:xfrm>
          <a:prstGeom prst="roundRect">
            <a:avLst>
              <a:gd name="adj" fmla="val 7273"/>
            </a:avLst>
          </a:prstGeom>
          <a:solidFill>
            <a:srgbClr val="E4F0F1"/>
          </a:solidFill>
          <a:ln/>
        </p:spPr>
      </p:sp>
      <p:sp>
        <p:nvSpPr>
          <p:cNvPr id="18" name="Text 16"/>
          <p:cNvSpPr txBox="1"/>
          <p:nvPr/>
        </p:nvSpPr>
        <p:spPr>
          <a:xfrm>
            <a:off x="777240" y="5303520"/>
            <a:ext cx="10607040" cy="914400"/>
          </a:xfrm>
          <a:prstGeom prst="rect">
            <a:avLst/>
          </a:prstGeom>
          <a:noFill/>
          <a:ln/>
        </p:spPr>
        <p:txBody>
          <a:bodyPr wrap="square" lIns="0" tIns="0" rIns="0" bIns="0" rtlCol="0" anchor="ctr"/>
          <a:lstStyle/>
          <a:p>
            <a:pPr indent="0" marL="0">
              <a:lnSpc>
                <a:spcPct val="110000"/>
              </a:lnSpc>
              <a:buNone/>
            </a:pPr>
            <a:r>
              <a:rPr lang="en-US" sz="1300" b="1" dirty="0">
                <a:solidFill>
                  <a:srgbClr val="0B5F67"/>
                </a:solidFill>
                <a:latin typeface="Calibri" pitchFamily="34" charset="0"/>
                <a:ea typeface="Calibri" pitchFamily="34" charset="-122"/>
                <a:cs typeface="Calibri" pitchFamily="34" charset="-120"/>
              </a:rPr>
              <a:t>TIP:  </a:t>
            </a:r>
            <a:pPr indent="0" marL="0">
              <a:lnSpc>
                <a:spcPct val="110000"/>
              </a:lnSpc>
              <a:buNone/>
            </a:pPr>
            <a:r>
              <a:rPr lang="en-US" sz="1300" dirty="0">
                <a:solidFill>
                  <a:srgbClr val="0F2540"/>
                </a:solidFill>
                <a:latin typeface="Calibri" pitchFamily="34" charset="0"/>
                <a:ea typeface="Calibri" pitchFamily="34" charset="-122"/>
                <a:cs typeface="Calibri" pitchFamily="34" charset="-120"/>
              </a:rPr>
              <a:t>Write both addresses down now. Every later command needs one of them.</a:t>
            </a:r>
            <a:endParaRPr lang="en-US" sz="1300" dirty="0"/>
          </a:p>
        </p:txBody>
      </p:sp>
      <p:sp>
        <p:nvSpPr>
          <p:cNvPr id="19" name="Text 17"/>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0" name="Text 18"/>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STEP 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WALKTHROUGH — STEP 1</a:t>
            </a:r>
            <a:endParaRPr lang="en-US" sz="1300" dirty="0"/>
          </a:p>
        </p:txBody>
      </p:sp>
      <p:sp>
        <p:nvSpPr>
          <p:cNvPr id="3" name="Text 1"/>
          <p:cNvSpPr txBox="1"/>
          <p:nvPr/>
        </p:nvSpPr>
        <p:spPr>
          <a:xfrm>
            <a:off x="502920" y="658368"/>
            <a:ext cx="813816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Install UFW and Turn On Logging</a:t>
            </a:r>
            <a:endParaRPr lang="en-US" sz="2800" dirty="0"/>
          </a:p>
        </p:txBody>
      </p:sp>
      <p:sp>
        <p:nvSpPr>
          <p:cNvPr id="4" name="Shape 2"/>
          <p:cNvSpPr/>
          <p:nvPr/>
        </p:nvSpPr>
        <p:spPr>
          <a:xfrm>
            <a:off x="8915400" y="457200"/>
            <a:ext cx="2697480" cy="457200"/>
          </a:xfrm>
          <a:prstGeom prst="roundRect">
            <a:avLst>
              <a:gd name="adj" fmla="val 50000"/>
            </a:avLst>
          </a:prstGeom>
          <a:solidFill>
            <a:srgbClr val="0E7C86"/>
          </a:solidFill>
          <a:ln/>
        </p:spPr>
      </p:sp>
      <p:sp>
        <p:nvSpPr>
          <p:cNvPr id="5" name="Text 3"/>
          <p:cNvSpPr txBox="1"/>
          <p:nvPr/>
        </p:nvSpPr>
        <p:spPr>
          <a:xfrm>
            <a:off x="8915400" y="457200"/>
            <a:ext cx="2697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TARGET  ·  Ubuntu</a:t>
            </a:r>
            <a:endParaRPr lang="en-US" sz="1250" dirty="0"/>
          </a:p>
        </p:txBody>
      </p:sp>
      <p:sp>
        <p:nvSpPr>
          <p:cNvPr id="6" name="Shape 4"/>
          <p:cNvSpPr/>
          <p:nvPr/>
        </p:nvSpPr>
        <p:spPr>
          <a:xfrm>
            <a:off x="548640" y="1554480"/>
            <a:ext cx="6720840" cy="3520440"/>
          </a:xfrm>
          <a:prstGeom prst="roundRect">
            <a:avLst>
              <a:gd name="adj" fmla="val 2078"/>
            </a:avLst>
          </a:prstGeom>
          <a:solidFill>
            <a:srgbClr val="0F2540"/>
          </a:solidFill>
          <a:ln/>
        </p:spPr>
      </p:sp>
      <p:sp>
        <p:nvSpPr>
          <p:cNvPr id="7" name="Shape 5"/>
          <p:cNvSpPr/>
          <p:nvPr/>
        </p:nvSpPr>
        <p:spPr>
          <a:xfrm>
            <a:off x="749808" y="1719072"/>
            <a:ext cx="128016" cy="128016"/>
          </a:xfrm>
          <a:prstGeom prst="ellipse">
            <a:avLst/>
          </a:prstGeom>
          <a:solidFill>
            <a:srgbClr val="E06C75"/>
          </a:solidFill>
          <a:ln/>
        </p:spPr>
      </p:sp>
      <p:sp>
        <p:nvSpPr>
          <p:cNvPr id="8" name="Shape 6"/>
          <p:cNvSpPr/>
          <p:nvPr/>
        </p:nvSpPr>
        <p:spPr>
          <a:xfrm>
            <a:off x="987552" y="1719072"/>
            <a:ext cx="128016" cy="128016"/>
          </a:xfrm>
          <a:prstGeom prst="ellipse">
            <a:avLst/>
          </a:prstGeom>
          <a:solidFill>
            <a:srgbClr val="E5C07B"/>
          </a:solidFill>
          <a:ln/>
        </p:spPr>
      </p:sp>
      <p:sp>
        <p:nvSpPr>
          <p:cNvPr id="9" name="Shape 7"/>
          <p:cNvSpPr/>
          <p:nvPr/>
        </p:nvSpPr>
        <p:spPr>
          <a:xfrm>
            <a:off x="1225296" y="1719072"/>
            <a:ext cx="128016" cy="128016"/>
          </a:xfrm>
          <a:prstGeom prst="ellipse">
            <a:avLst/>
          </a:prstGeom>
          <a:solidFill>
            <a:srgbClr val="98C379"/>
          </a:solidFill>
          <a:ln/>
        </p:spPr>
      </p:sp>
      <p:sp>
        <p:nvSpPr>
          <p:cNvPr id="10" name="Text 8"/>
          <p:cNvSpPr txBox="1"/>
          <p:nvPr/>
        </p:nvSpPr>
        <p:spPr>
          <a:xfrm>
            <a:off x="777240" y="2011680"/>
            <a:ext cx="6355080" cy="2926080"/>
          </a:xfrm>
          <a:prstGeom prst="rect">
            <a:avLst/>
          </a:prstGeom>
          <a:noFill/>
          <a:ln/>
        </p:spPr>
        <p:txBody>
          <a:bodyPr wrap="square" lIns="0" tIns="0" rIns="0" bIns="0" rtlCol="0" anchor="t"/>
          <a:lstStyle/>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apt update &amp;&amp; sudo apt install -y ufw</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ufw allow ssh</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ufw enable</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ufw logging medium</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ufw status verbose</a:t>
            </a:r>
            <a:endParaRPr lang="en-US" sz="1350" dirty="0"/>
          </a:p>
        </p:txBody>
      </p:sp>
      <p:sp>
        <p:nvSpPr>
          <p:cNvPr id="11" name="Shape 9"/>
          <p:cNvSpPr/>
          <p:nvPr/>
        </p:nvSpPr>
        <p:spPr>
          <a:xfrm>
            <a:off x="7498080" y="1554480"/>
            <a:ext cx="4114800" cy="1735531"/>
          </a:xfrm>
          <a:prstGeom prst="roundRect">
            <a:avLst>
              <a:gd name="adj" fmla="val 4215"/>
            </a:avLst>
          </a:prstGeom>
          <a:solidFill>
            <a:srgbClr val="E4F0F1"/>
          </a:solidFill>
          <a:ln/>
        </p:spPr>
      </p:sp>
      <p:sp>
        <p:nvSpPr>
          <p:cNvPr id="12" name="Text 10"/>
          <p:cNvSpPr txBox="1"/>
          <p:nvPr/>
        </p:nvSpPr>
        <p:spPr>
          <a:xfrm>
            <a:off x="7699248" y="1673352"/>
            <a:ext cx="3749040" cy="274320"/>
          </a:xfrm>
          <a:prstGeom prst="rect">
            <a:avLst/>
          </a:prstGeom>
          <a:noFill/>
          <a:ln/>
        </p:spPr>
        <p:txBody>
          <a:bodyPr wrap="square" lIns="0" tIns="0" rIns="0" bIns="0" rtlCol="0" anchor="ctr"/>
          <a:lstStyle/>
          <a:p>
            <a:pPr indent="0" marL="0">
              <a:buNone/>
            </a:pPr>
            <a:r>
              <a:rPr lang="en-US" sz="1150" b="1" dirty="0">
                <a:solidFill>
                  <a:srgbClr val="0B5F67"/>
                </a:solidFill>
                <a:latin typeface="Calibri" pitchFamily="34" charset="0"/>
                <a:ea typeface="Calibri" pitchFamily="34" charset="-122"/>
                <a:cs typeface="Calibri" pitchFamily="34" charset="-120"/>
              </a:rPr>
              <a:t>✓  WHAT YOU SHOULD SEE</a:t>
            </a:r>
            <a:endParaRPr lang="en-US" sz="1150" dirty="0"/>
          </a:p>
        </p:txBody>
      </p:sp>
      <p:sp>
        <p:nvSpPr>
          <p:cNvPr id="13" name="Text 11"/>
          <p:cNvSpPr txBox="1"/>
          <p:nvPr/>
        </p:nvSpPr>
        <p:spPr>
          <a:xfrm>
            <a:off x="7699248" y="1984248"/>
            <a:ext cx="3749040" cy="1232611"/>
          </a:xfrm>
          <a:prstGeom prst="rect">
            <a:avLst/>
          </a:prstGeom>
          <a:noFill/>
          <a:ln/>
        </p:spPr>
        <p:txBody>
          <a:bodyPr wrap="square" lIns="0" tIns="0" rIns="0" bIns="0" rtlCol="0" anchor="t"/>
          <a:lstStyle/>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"Firewall is active and enabled on system startup". In the status output: Logging: on (medium) and Default: deny (incoming), allow (outgoing).</a:t>
            </a:r>
            <a:endParaRPr lang="en-US" sz="1300" dirty="0"/>
          </a:p>
        </p:txBody>
      </p:sp>
      <p:sp>
        <p:nvSpPr>
          <p:cNvPr id="14" name="Shape 12"/>
          <p:cNvSpPr/>
          <p:nvPr/>
        </p:nvSpPr>
        <p:spPr>
          <a:xfrm>
            <a:off x="7498080" y="3472891"/>
            <a:ext cx="4114800" cy="1602029"/>
          </a:xfrm>
          <a:prstGeom prst="roundRect">
            <a:avLst>
              <a:gd name="adj" fmla="val 4566"/>
            </a:avLst>
          </a:prstGeom>
          <a:solidFill>
            <a:srgbClr val="EEF2F4"/>
          </a:solidFill>
          <a:ln/>
        </p:spPr>
      </p:sp>
      <p:sp>
        <p:nvSpPr>
          <p:cNvPr id="15" name="Text 13"/>
          <p:cNvSpPr txBox="1"/>
          <p:nvPr/>
        </p:nvSpPr>
        <p:spPr>
          <a:xfrm>
            <a:off x="7699248" y="3591763"/>
            <a:ext cx="3749040" cy="274320"/>
          </a:xfrm>
          <a:prstGeom prst="rect">
            <a:avLst/>
          </a:prstGeom>
          <a:noFill/>
          <a:ln/>
        </p:spPr>
        <p:txBody>
          <a:bodyPr wrap="square" lIns="0" tIns="0" rIns="0" bIns="0" rtlCol="0" anchor="ctr"/>
          <a:lstStyle/>
          <a:p>
            <a:pPr indent="0" marL="0">
              <a:buNone/>
            </a:pPr>
            <a:r>
              <a:rPr lang="en-US" sz="1150" b="1" dirty="0">
                <a:solidFill>
                  <a:srgbClr val="5B6B7A"/>
                </a:solidFill>
                <a:latin typeface="Calibri" pitchFamily="34" charset="0"/>
                <a:ea typeface="Calibri" pitchFamily="34" charset="-122"/>
                <a:cs typeface="Calibri" pitchFamily="34" charset="-120"/>
              </a:rPr>
              <a:t>?  WHY WE DO THIS</a:t>
            </a:r>
            <a:endParaRPr lang="en-US" sz="1150" dirty="0"/>
          </a:p>
        </p:txBody>
      </p:sp>
      <p:sp>
        <p:nvSpPr>
          <p:cNvPr id="16" name="Text 14"/>
          <p:cNvSpPr txBox="1"/>
          <p:nvPr/>
        </p:nvSpPr>
        <p:spPr>
          <a:xfrm>
            <a:off x="7699248" y="3902659"/>
            <a:ext cx="3749040" cy="916229"/>
          </a:xfrm>
          <a:prstGeom prst="rect">
            <a:avLst/>
          </a:prstGeom>
          <a:noFill/>
          <a:ln/>
        </p:spPr>
        <p:txBody>
          <a:bodyPr wrap="square" lIns="0" tIns="0" rIns="0" bIns="0" rtlCol="0" anchor="t"/>
          <a:lstStyle/>
          <a:p>
            <a:pPr indent="0" marL="0">
              <a:lnSpc>
                <a:spcPct val="112000"/>
              </a:lnSpc>
              <a:buNone/>
            </a:pPr>
            <a:r>
              <a:rPr lang="en-US" sz="1300" dirty="0">
                <a:solidFill>
                  <a:srgbClr val="1A2733"/>
                </a:solidFill>
                <a:latin typeface="Calibri" pitchFamily="34" charset="0"/>
                <a:ea typeface="Calibri" pitchFamily="34" charset="-122"/>
                <a:cs typeface="Calibri" pitchFamily="34" charset="-120"/>
              </a:rPr>
              <a:t>Logging has to be running before the scan. UFW only records what happens after logging is on.</a:t>
            </a:r>
            <a:endParaRPr lang="en-US" sz="1300" dirty="0"/>
          </a:p>
        </p:txBody>
      </p:sp>
      <p:sp>
        <p:nvSpPr>
          <p:cNvPr id="17" name="Shape 15"/>
          <p:cNvSpPr/>
          <p:nvPr/>
        </p:nvSpPr>
        <p:spPr>
          <a:xfrm>
            <a:off x="548640" y="5257800"/>
            <a:ext cx="11064240" cy="1005840"/>
          </a:xfrm>
          <a:prstGeom prst="roundRect">
            <a:avLst>
              <a:gd name="adj" fmla="val 7273"/>
            </a:avLst>
          </a:prstGeom>
          <a:solidFill>
            <a:srgbClr val="FBEBD8"/>
          </a:solidFill>
          <a:ln/>
        </p:spPr>
      </p:sp>
      <p:sp>
        <p:nvSpPr>
          <p:cNvPr id="18" name="Text 16"/>
          <p:cNvSpPr txBox="1"/>
          <p:nvPr/>
        </p:nvSpPr>
        <p:spPr>
          <a:xfrm>
            <a:off x="777240" y="5303520"/>
            <a:ext cx="10607040" cy="914400"/>
          </a:xfrm>
          <a:prstGeom prst="rect">
            <a:avLst/>
          </a:prstGeom>
          <a:noFill/>
          <a:ln/>
        </p:spPr>
        <p:txBody>
          <a:bodyPr wrap="square" lIns="0" tIns="0" rIns="0" bIns="0" rtlCol="0" anchor="ctr"/>
          <a:lstStyle/>
          <a:p>
            <a:pPr indent="0" marL="0">
              <a:lnSpc>
                <a:spcPct val="110000"/>
              </a:lnSpc>
              <a:buNone/>
            </a:pPr>
            <a:r>
              <a:rPr lang="en-US" sz="1300" b="1" dirty="0">
                <a:solidFill>
                  <a:srgbClr val="B4571A"/>
                </a:solidFill>
                <a:latin typeface="Calibri" pitchFamily="34" charset="0"/>
                <a:ea typeface="Calibri" pitchFamily="34" charset="-122"/>
                <a:cs typeface="Calibri" pitchFamily="34" charset="-120"/>
              </a:rPr>
              <a:t>⚠  WATCH OUT:  </a:t>
            </a:r>
            <a:pPr indent="0" marL="0">
              <a:lnSpc>
                <a:spcPct val="110000"/>
              </a:lnSpc>
              <a:buNone/>
            </a:pPr>
            <a:r>
              <a:rPr lang="en-US" sz="1300" dirty="0">
                <a:solidFill>
                  <a:srgbClr val="0F2540"/>
                </a:solidFill>
                <a:latin typeface="Calibri" pitchFamily="34" charset="0"/>
                <a:ea typeface="Calibri" pitchFamily="34" charset="-122"/>
                <a:cs typeface="Calibri" pitchFamily="34" charset="-120"/>
              </a:rPr>
              <a:t>Allow SSH before you enable UFW. If you are connected over SSH and skip it, the default deny will lock you out.</a:t>
            </a:r>
            <a:endParaRPr lang="en-US" sz="1300" dirty="0"/>
          </a:p>
        </p:txBody>
      </p:sp>
      <p:sp>
        <p:nvSpPr>
          <p:cNvPr id="19" name="Text 17"/>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0" name="Text 18"/>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STEP 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WALKTHROUGH — STEP 2</a:t>
            </a:r>
            <a:endParaRPr lang="en-US" sz="1300" dirty="0"/>
          </a:p>
        </p:txBody>
      </p:sp>
      <p:sp>
        <p:nvSpPr>
          <p:cNvPr id="3" name="Text 1"/>
          <p:cNvSpPr txBox="1"/>
          <p:nvPr/>
        </p:nvSpPr>
        <p:spPr>
          <a:xfrm>
            <a:off x="502920" y="658368"/>
            <a:ext cx="813816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Create the Deny Rule for Port 80</a:t>
            </a:r>
            <a:endParaRPr lang="en-US" sz="2800" dirty="0"/>
          </a:p>
        </p:txBody>
      </p:sp>
      <p:sp>
        <p:nvSpPr>
          <p:cNvPr id="4" name="Shape 2"/>
          <p:cNvSpPr/>
          <p:nvPr/>
        </p:nvSpPr>
        <p:spPr>
          <a:xfrm>
            <a:off x="8915400" y="457200"/>
            <a:ext cx="2697480" cy="457200"/>
          </a:xfrm>
          <a:prstGeom prst="roundRect">
            <a:avLst>
              <a:gd name="adj" fmla="val 50000"/>
            </a:avLst>
          </a:prstGeom>
          <a:solidFill>
            <a:srgbClr val="0E7C86"/>
          </a:solidFill>
          <a:ln/>
        </p:spPr>
      </p:sp>
      <p:sp>
        <p:nvSpPr>
          <p:cNvPr id="5" name="Text 3"/>
          <p:cNvSpPr txBox="1"/>
          <p:nvPr/>
        </p:nvSpPr>
        <p:spPr>
          <a:xfrm>
            <a:off x="8915400" y="457200"/>
            <a:ext cx="2697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TARGET  ·  Ubuntu</a:t>
            </a:r>
            <a:endParaRPr lang="en-US" sz="1250" dirty="0"/>
          </a:p>
        </p:txBody>
      </p:sp>
      <p:sp>
        <p:nvSpPr>
          <p:cNvPr id="6" name="Shape 4"/>
          <p:cNvSpPr/>
          <p:nvPr/>
        </p:nvSpPr>
        <p:spPr>
          <a:xfrm>
            <a:off x="548640" y="1554480"/>
            <a:ext cx="6720840" cy="3520440"/>
          </a:xfrm>
          <a:prstGeom prst="roundRect">
            <a:avLst>
              <a:gd name="adj" fmla="val 2078"/>
            </a:avLst>
          </a:prstGeom>
          <a:solidFill>
            <a:srgbClr val="0F2540"/>
          </a:solidFill>
          <a:ln/>
        </p:spPr>
      </p:sp>
      <p:sp>
        <p:nvSpPr>
          <p:cNvPr id="7" name="Shape 5"/>
          <p:cNvSpPr/>
          <p:nvPr/>
        </p:nvSpPr>
        <p:spPr>
          <a:xfrm>
            <a:off x="749808" y="1719072"/>
            <a:ext cx="128016" cy="128016"/>
          </a:xfrm>
          <a:prstGeom prst="ellipse">
            <a:avLst/>
          </a:prstGeom>
          <a:solidFill>
            <a:srgbClr val="E06C75"/>
          </a:solidFill>
          <a:ln/>
        </p:spPr>
      </p:sp>
      <p:sp>
        <p:nvSpPr>
          <p:cNvPr id="8" name="Shape 6"/>
          <p:cNvSpPr/>
          <p:nvPr/>
        </p:nvSpPr>
        <p:spPr>
          <a:xfrm>
            <a:off x="987552" y="1719072"/>
            <a:ext cx="128016" cy="128016"/>
          </a:xfrm>
          <a:prstGeom prst="ellipse">
            <a:avLst/>
          </a:prstGeom>
          <a:solidFill>
            <a:srgbClr val="E5C07B"/>
          </a:solidFill>
          <a:ln/>
        </p:spPr>
      </p:sp>
      <p:sp>
        <p:nvSpPr>
          <p:cNvPr id="9" name="Shape 7"/>
          <p:cNvSpPr/>
          <p:nvPr/>
        </p:nvSpPr>
        <p:spPr>
          <a:xfrm>
            <a:off x="1225296" y="1719072"/>
            <a:ext cx="128016" cy="128016"/>
          </a:xfrm>
          <a:prstGeom prst="ellipse">
            <a:avLst/>
          </a:prstGeom>
          <a:solidFill>
            <a:srgbClr val="98C379"/>
          </a:solidFill>
          <a:ln/>
        </p:spPr>
      </p:sp>
      <p:sp>
        <p:nvSpPr>
          <p:cNvPr id="10" name="Text 8"/>
          <p:cNvSpPr txBox="1"/>
          <p:nvPr/>
        </p:nvSpPr>
        <p:spPr>
          <a:xfrm>
            <a:off x="777240" y="2011680"/>
            <a:ext cx="6355080" cy="2926080"/>
          </a:xfrm>
          <a:prstGeom prst="rect">
            <a:avLst/>
          </a:prstGeom>
          <a:noFill/>
          <a:ln/>
        </p:spPr>
        <p:txBody>
          <a:bodyPr wrap="square" lIns="0" tIns="0" rIns="0" bIns="0" rtlCol="0" anchor="t"/>
          <a:lstStyle/>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ufw deny log from ATTACKER_IP to any port 80 proto tcp</a:t>
            </a:r>
            <a:endParaRPr lang="en-US" sz="1350" dirty="0"/>
          </a:p>
          <a:p>
            <a:pPr indent="0" marL="0">
              <a:lnSpc>
                <a:spcPct val="120000"/>
              </a:lnSpc>
              <a:buNone/>
            </a:pP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ufw status numbered</a:t>
            </a:r>
            <a:endParaRPr lang="en-US" sz="1350" dirty="0"/>
          </a:p>
        </p:txBody>
      </p:sp>
      <p:sp>
        <p:nvSpPr>
          <p:cNvPr id="11" name="Shape 9"/>
          <p:cNvSpPr/>
          <p:nvPr/>
        </p:nvSpPr>
        <p:spPr>
          <a:xfrm>
            <a:off x="7498080" y="1554480"/>
            <a:ext cx="4114800" cy="1735531"/>
          </a:xfrm>
          <a:prstGeom prst="roundRect">
            <a:avLst>
              <a:gd name="adj" fmla="val 4215"/>
            </a:avLst>
          </a:prstGeom>
          <a:solidFill>
            <a:srgbClr val="E4F0F1"/>
          </a:solidFill>
          <a:ln/>
        </p:spPr>
      </p:sp>
      <p:sp>
        <p:nvSpPr>
          <p:cNvPr id="12" name="Text 10"/>
          <p:cNvSpPr txBox="1"/>
          <p:nvPr/>
        </p:nvSpPr>
        <p:spPr>
          <a:xfrm>
            <a:off x="7699248" y="1673352"/>
            <a:ext cx="3749040" cy="274320"/>
          </a:xfrm>
          <a:prstGeom prst="rect">
            <a:avLst/>
          </a:prstGeom>
          <a:noFill/>
          <a:ln/>
        </p:spPr>
        <p:txBody>
          <a:bodyPr wrap="square" lIns="0" tIns="0" rIns="0" bIns="0" rtlCol="0" anchor="ctr"/>
          <a:lstStyle/>
          <a:p>
            <a:pPr indent="0" marL="0">
              <a:buNone/>
            </a:pPr>
            <a:r>
              <a:rPr lang="en-US" sz="1150" b="1" dirty="0">
                <a:solidFill>
                  <a:srgbClr val="0B5F67"/>
                </a:solidFill>
                <a:latin typeface="Calibri" pitchFamily="34" charset="0"/>
                <a:ea typeface="Calibri" pitchFamily="34" charset="-122"/>
                <a:cs typeface="Calibri" pitchFamily="34" charset="-120"/>
              </a:rPr>
              <a:t>✓  WHAT YOU SHOULD SEE</a:t>
            </a:r>
            <a:endParaRPr lang="en-US" sz="1150" dirty="0"/>
          </a:p>
        </p:txBody>
      </p:sp>
      <p:sp>
        <p:nvSpPr>
          <p:cNvPr id="13" name="Text 11"/>
          <p:cNvSpPr txBox="1"/>
          <p:nvPr/>
        </p:nvSpPr>
        <p:spPr>
          <a:xfrm>
            <a:off x="7699248" y="1984248"/>
            <a:ext cx="3749040" cy="1232611"/>
          </a:xfrm>
          <a:prstGeom prst="rect">
            <a:avLst/>
          </a:prstGeom>
          <a:noFill/>
          <a:ln/>
        </p:spPr>
        <p:txBody>
          <a:bodyPr wrap="square" lIns="0" tIns="0" rIns="0" bIns="0" rtlCol="0" anchor="t"/>
          <a:lstStyle/>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"Rule added", then a numbered list that includes an 80/tcp DENY entry for your attacker IP, tagged (log).</a:t>
            </a:r>
            <a:endParaRPr lang="en-US" sz="1300" dirty="0"/>
          </a:p>
        </p:txBody>
      </p:sp>
      <p:sp>
        <p:nvSpPr>
          <p:cNvPr id="14" name="Shape 12"/>
          <p:cNvSpPr/>
          <p:nvPr/>
        </p:nvSpPr>
        <p:spPr>
          <a:xfrm>
            <a:off x="7498080" y="3472891"/>
            <a:ext cx="4114800" cy="1602029"/>
          </a:xfrm>
          <a:prstGeom prst="roundRect">
            <a:avLst>
              <a:gd name="adj" fmla="val 4566"/>
            </a:avLst>
          </a:prstGeom>
          <a:solidFill>
            <a:srgbClr val="EEF2F4"/>
          </a:solidFill>
          <a:ln/>
        </p:spPr>
      </p:sp>
      <p:sp>
        <p:nvSpPr>
          <p:cNvPr id="15" name="Text 13"/>
          <p:cNvSpPr txBox="1"/>
          <p:nvPr/>
        </p:nvSpPr>
        <p:spPr>
          <a:xfrm>
            <a:off x="7699248" y="3591763"/>
            <a:ext cx="3749040" cy="274320"/>
          </a:xfrm>
          <a:prstGeom prst="rect">
            <a:avLst/>
          </a:prstGeom>
          <a:noFill/>
          <a:ln/>
        </p:spPr>
        <p:txBody>
          <a:bodyPr wrap="square" lIns="0" tIns="0" rIns="0" bIns="0" rtlCol="0" anchor="ctr"/>
          <a:lstStyle/>
          <a:p>
            <a:pPr indent="0" marL="0">
              <a:buNone/>
            </a:pPr>
            <a:r>
              <a:rPr lang="en-US" sz="1150" b="1" dirty="0">
                <a:solidFill>
                  <a:srgbClr val="5B6B7A"/>
                </a:solidFill>
                <a:latin typeface="Calibri" pitchFamily="34" charset="0"/>
                <a:ea typeface="Calibri" pitchFamily="34" charset="-122"/>
                <a:cs typeface="Calibri" pitchFamily="34" charset="-120"/>
              </a:rPr>
              <a:t>?  WHY WE DO THIS</a:t>
            </a:r>
            <a:endParaRPr lang="en-US" sz="1150" dirty="0"/>
          </a:p>
        </p:txBody>
      </p:sp>
      <p:sp>
        <p:nvSpPr>
          <p:cNvPr id="16" name="Text 14"/>
          <p:cNvSpPr txBox="1"/>
          <p:nvPr/>
        </p:nvSpPr>
        <p:spPr>
          <a:xfrm>
            <a:off x="7699248" y="3902659"/>
            <a:ext cx="3749040" cy="916229"/>
          </a:xfrm>
          <a:prstGeom prst="rect">
            <a:avLst/>
          </a:prstGeom>
          <a:noFill/>
          <a:ln/>
        </p:spPr>
        <p:txBody>
          <a:bodyPr wrap="square" lIns="0" tIns="0" rIns="0" bIns="0" rtlCol="0" anchor="t"/>
          <a:lstStyle/>
          <a:p>
            <a:pPr indent="0" marL="0">
              <a:lnSpc>
                <a:spcPct val="112000"/>
              </a:lnSpc>
              <a:buNone/>
            </a:pPr>
            <a:r>
              <a:rPr lang="en-US" sz="1300" dirty="0">
                <a:solidFill>
                  <a:srgbClr val="1A2733"/>
                </a:solidFill>
                <a:latin typeface="Calibri" pitchFamily="34" charset="0"/>
                <a:ea typeface="Calibri" pitchFamily="34" charset="-122"/>
                <a:cs typeface="Calibri" pitchFamily="34" charset="-120"/>
              </a:rPr>
              <a:t>This blocks only the attacker, only on port 80. The log keyword makes UFW record each blocked new connection that matches this rule.</a:t>
            </a:r>
            <a:endParaRPr lang="en-US" sz="1300" dirty="0"/>
          </a:p>
        </p:txBody>
      </p:sp>
      <p:sp>
        <p:nvSpPr>
          <p:cNvPr id="17" name="Shape 15"/>
          <p:cNvSpPr/>
          <p:nvPr/>
        </p:nvSpPr>
        <p:spPr>
          <a:xfrm>
            <a:off x="548640" y="5257800"/>
            <a:ext cx="11064240" cy="1005840"/>
          </a:xfrm>
          <a:prstGeom prst="roundRect">
            <a:avLst>
              <a:gd name="adj" fmla="val 7273"/>
            </a:avLst>
          </a:prstGeom>
          <a:solidFill>
            <a:srgbClr val="E4F0F1"/>
          </a:solidFill>
          <a:ln/>
        </p:spPr>
      </p:sp>
      <p:sp>
        <p:nvSpPr>
          <p:cNvPr id="18" name="Text 16"/>
          <p:cNvSpPr txBox="1"/>
          <p:nvPr/>
        </p:nvSpPr>
        <p:spPr>
          <a:xfrm>
            <a:off x="777240" y="5303520"/>
            <a:ext cx="10607040" cy="914400"/>
          </a:xfrm>
          <a:prstGeom prst="rect">
            <a:avLst/>
          </a:prstGeom>
          <a:noFill/>
          <a:ln/>
        </p:spPr>
        <p:txBody>
          <a:bodyPr wrap="square" lIns="0" tIns="0" rIns="0" bIns="0" rtlCol="0" anchor="ctr"/>
          <a:lstStyle/>
          <a:p>
            <a:pPr indent="0" marL="0">
              <a:lnSpc>
                <a:spcPct val="110000"/>
              </a:lnSpc>
              <a:buNone/>
            </a:pPr>
            <a:r>
              <a:rPr lang="en-US" sz="1300" b="1" dirty="0">
                <a:solidFill>
                  <a:srgbClr val="0B5F67"/>
                </a:solidFill>
                <a:latin typeface="Calibri" pitchFamily="34" charset="0"/>
                <a:ea typeface="Calibri" pitchFamily="34" charset="-122"/>
                <a:cs typeface="Calibri" pitchFamily="34" charset="-120"/>
              </a:rPr>
              <a:t>TIP:  </a:t>
            </a:r>
            <a:pPr indent="0" marL="0">
              <a:lnSpc>
                <a:spcPct val="110000"/>
              </a:lnSpc>
              <a:buNone/>
            </a:pPr>
            <a:r>
              <a:rPr lang="en-US" sz="1300" dirty="0">
                <a:solidFill>
                  <a:srgbClr val="0F2540"/>
                </a:solidFill>
                <a:latin typeface="Calibri" pitchFamily="34" charset="0"/>
                <a:ea typeface="Calibri" pitchFamily="34" charset="-122"/>
                <a:cs typeface="Calibri" pitchFamily="34" charset="-120"/>
              </a:rPr>
              <a:t>The handout's rule has no log keyword. UFW's man page says that by default no logging happens when a packet matches a rule, so add log to be sure. No ufw reload is needed — rules apply immediately.</a:t>
            </a:r>
            <a:endParaRPr lang="en-US" sz="1300" dirty="0"/>
          </a:p>
        </p:txBody>
      </p:sp>
      <p:sp>
        <p:nvSpPr>
          <p:cNvPr id="19" name="Text 17"/>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0" name="Text 18"/>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STEP 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WALKTHROUGH — STEP 3</a:t>
            </a:r>
            <a:endParaRPr lang="en-US" sz="1300" dirty="0"/>
          </a:p>
        </p:txBody>
      </p:sp>
      <p:sp>
        <p:nvSpPr>
          <p:cNvPr id="3" name="Text 1"/>
          <p:cNvSpPr txBox="1"/>
          <p:nvPr/>
        </p:nvSpPr>
        <p:spPr>
          <a:xfrm>
            <a:off x="502920" y="658368"/>
            <a:ext cx="813816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Watch the Log Live</a:t>
            </a:r>
            <a:endParaRPr lang="en-US" sz="2800" dirty="0"/>
          </a:p>
        </p:txBody>
      </p:sp>
      <p:sp>
        <p:nvSpPr>
          <p:cNvPr id="4" name="Shape 2"/>
          <p:cNvSpPr/>
          <p:nvPr/>
        </p:nvSpPr>
        <p:spPr>
          <a:xfrm>
            <a:off x="8915400" y="457200"/>
            <a:ext cx="2697480" cy="457200"/>
          </a:xfrm>
          <a:prstGeom prst="roundRect">
            <a:avLst>
              <a:gd name="adj" fmla="val 50000"/>
            </a:avLst>
          </a:prstGeom>
          <a:solidFill>
            <a:srgbClr val="0E7C86"/>
          </a:solidFill>
          <a:ln/>
        </p:spPr>
      </p:sp>
      <p:sp>
        <p:nvSpPr>
          <p:cNvPr id="5" name="Text 3"/>
          <p:cNvSpPr txBox="1"/>
          <p:nvPr/>
        </p:nvSpPr>
        <p:spPr>
          <a:xfrm>
            <a:off x="8915400" y="457200"/>
            <a:ext cx="2697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TARGET  ·  Ubuntu</a:t>
            </a:r>
            <a:endParaRPr lang="en-US" sz="1250" dirty="0"/>
          </a:p>
        </p:txBody>
      </p:sp>
      <p:sp>
        <p:nvSpPr>
          <p:cNvPr id="6" name="Shape 4"/>
          <p:cNvSpPr/>
          <p:nvPr/>
        </p:nvSpPr>
        <p:spPr>
          <a:xfrm>
            <a:off x="548640" y="1554480"/>
            <a:ext cx="6720840" cy="3520440"/>
          </a:xfrm>
          <a:prstGeom prst="roundRect">
            <a:avLst>
              <a:gd name="adj" fmla="val 2078"/>
            </a:avLst>
          </a:prstGeom>
          <a:solidFill>
            <a:srgbClr val="0F2540"/>
          </a:solidFill>
          <a:ln/>
        </p:spPr>
      </p:sp>
      <p:sp>
        <p:nvSpPr>
          <p:cNvPr id="7" name="Shape 5"/>
          <p:cNvSpPr/>
          <p:nvPr/>
        </p:nvSpPr>
        <p:spPr>
          <a:xfrm>
            <a:off x="749808" y="1719072"/>
            <a:ext cx="128016" cy="128016"/>
          </a:xfrm>
          <a:prstGeom prst="ellipse">
            <a:avLst/>
          </a:prstGeom>
          <a:solidFill>
            <a:srgbClr val="E06C75"/>
          </a:solidFill>
          <a:ln/>
        </p:spPr>
      </p:sp>
      <p:sp>
        <p:nvSpPr>
          <p:cNvPr id="8" name="Shape 6"/>
          <p:cNvSpPr/>
          <p:nvPr/>
        </p:nvSpPr>
        <p:spPr>
          <a:xfrm>
            <a:off x="987552" y="1719072"/>
            <a:ext cx="128016" cy="128016"/>
          </a:xfrm>
          <a:prstGeom prst="ellipse">
            <a:avLst/>
          </a:prstGeom>
          <a:solidFill>
            <a:srgbClr val="E5C07B"/>
          </a:solidFill>
          <a:ln/>
        </p:spPr>
      </p:sp>
      <p:sp>
        <p:nvSpPr>
          <p:cNvPr id="9" name="Shape 7"/>
          <p:cNvSpPr/>
          <p:nvPr/>
        </p:nvSpPr>
        <p:spPr>
          <a:xfrm>
            <a:off x="1225296" y="1719072"/>
            <a:ext cx="128016" cy="128016"/>
          </a:xfrm>
          <a:prstGeom prst="ellipse">
            <a:avLst/>
          </a:prstGeom>
          <a:solidFill>
            <a:srgbClr val="98C379"/>
          </a:solidFill>
          <a:ln/>
        </p:spPr>
      </p:sp>
      <p:sp>
        <p:nvSpPr>
          <p:cNvPr id="10" name="Text 8"/>
          <p:cNvSpPr txBox="1"/>
          <p:nvPr/>
        </p:nvSpPr>
        <p:spPr>
          <a:xfrm>
            <a:off x="777240" y="2011680"/>
            <a:ext cx="6355080" cy="2926080"/>
          </a:xfrm>
          <a:prstGeom prst="rect">
            <a:avLst/>
          </a:prstGeom>
          <a:noFill/>
          <a:ln/>
        </p:spPr>
        <p:txBody>
          <a:bodyPr wrap="square" lIns="0" tIns="0" rIns="0" bIns="0" rtlCol="0" anchor="t"/>
          <a:lstStyle/>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Open a SECOND terminal on the target</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tail -f /var/log/ufw.log | grep "SRC=ATTACKER_IP"</a:t>
            </a:r>
            <a:endParaRPr lang="en-US" sz="1350" dirty="0"/>
          </a:p>
          <a:p>
            <a:pPr indent="0" marL="0">
              <a:lnSpc>
                <a:spcPct val="120000"/>
              </a:lnSpc>
              <a:buNone/>
            </a:pP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If /var/log/ufw.log does not exist, use:</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journalctl -k -f | grep "UFW BLOCK"</a:t>
            </a:r>
            <a:endParaRPr lang="en-US" sz="1350" dirty="0"/>
          </a:p>
        </p:txBody>
      </p:sp>
      <p:sp>
        <p:nvSpPr>
          <p:cNvPr id="11" name="Shape 9"/>
          <p:cNvSpPr/>
          <p:nvPr/>
        </p:nvSpPr>
        <p:spPr>
          <a:xfrm>
            <a:off x="7498080" y="1554480"/>
            <a:ext cx="4114800" cy="1735531"/>
          </a:xfrm>
          <a:prstGeom prst="roundRect">
            <a:avLst>
              <a:gd name="adj" fmla="val 4215"/>
            </a:avLst>
          </a:prstGeom>
          <a:solidFill>
            <a:srgbClr val="E4F0F1"/>
          </a:solidFill>
          <a:ln/>
        </p:spPr>
      </p:sp>
      <p:sp>
        <p:nvSpPr>
          <p:cNvPr id="12" name="Text 10"/>
          <p:cNvSpPr txBox="1"/>
          <p:nvPr/>
        </p:nvSpPr>
        <p:spPr>
          <a:xfrm>
            <a:off x="7699248" y="1673352"/>
            <a:ext cx="3749040" cy="274320"/>
          </a:xfrm>
          <a:prstGeom prst="rect">
            <a:avLst/>
          </a:prstGeom>
          <a:noFill/>
          <a:ln/>
        </p:spPr>
        <p:txBody>
          <a:bodyPr wrap="square" lIns="0" tIns="0" rIns="0" bIns="0" rtlCol="0" anchor="ctr"/>
          <a:lstStyle/>
          <a:p>
            <a:pPr indent="0" marL="0">
              <a:buNone/>
            </a:pPr>
            <a:r>
              <a:rPr lang="en-US" sz="1150" b="1" dirty="0">
                <a:solidFill>
                  <a:srgbClr val="0B5F67"/>
                </a:solidFill>
                <a:latin typeface="Calibri" pitchFamily="34" charset="0"/>
                <a:ea typeface="Calibri" pitchFamily="34" charset="-122"/>
                <a:cs typeface="Calibri" pitchFamily="34" charset="-120"/>
              </a:rPr>
              <a:t>✓  WHAT YOU SHOULD SEE</a:t>
            </a:r>
            <a:endParaRPr lang="en-US" sz="1150" dirty="0"/>
          </a:p>
        </p:txBody>
      </p:sp>
      <p:sp>
        <p:nvSpPr>
          <p:cNvPr id="13" name="Text 11"/>
          <p:cNvSpPr txBox="1"/>
          <p:nvPr/>
        </p:nvSpPr>
        <p:spPr>
          <a:xfrm>
            <a:off x="7699248" y="1984248"/>
            <a:ext cx="3749040" cy="1232611"/>
          </a:xfrm>
          <a:prstGeom prst="rect">
            <a:avLst/>
          </a:prstGeom>
          <a:noFill/>
          <a:ln/>
        </p:spPr>
        <p:txBody>
          <a:bodyPr wrap="square" lIns="0" tIns="0" rIns="0" bIns="0" rtlCol="0" anchor="t"/>
          <a:lstStyle/>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Nothing yet — the command just waits. That is correct: no scan has happened.</a:t>
            </a:r>
            <a:endParaRPr lang="en-US" sz="1300" dirty="0"/>
          </a:p>
        </p:txBody>
      </p:sp>
      <p:sp>
        <p:nvSpPr>
          <p:cNvPr id="14" name="Shape 12"/>
          <p:cNvSpPr/>
          <p:nvPr/>
        </p:nvSpPr>
        <p:spPr>
          <a:xfrm>
            <a:off x="7498080" y="3472891"/>
            <a:ext cx="4114800" cy="1602029"/>
          </a:xfrm>
          <a:prstGeom prst="roundRect">
            <a:avLst>
              <a:gd name="adj" fmla="val 4566"/>
            </a:avLst>
          </a:prstGeom>
          <a:solidFill>
            <a:srgbClr val="EEF2F4"/>
          </a:solidFill>
          <a:ln/>
        </p:spPr>
      </p:sp>
      <p:sp>
        <p:nvSpPr>
          <p:cNvPr id="15" name="Text 13"/>
          <p:cNvSpPr txBox="1"/>
          <p:nvPr/>
        </p:nvSpPr>
        <p:spPr>
          <a:xfrm>
            <a:off x="7699248" y="3591763"/>
            <a:ext cx="3749040" cy="274320"/>
          </a:xfrm>
          <a:prstGeom prst="rect">
            <a:avLst/>
          </a:prstGeom>
          <a:noFill/>
          <a:ln/>
        </p:spPr>
        <p:txBody>
          <a:bodyPr wrap="square" lIns="0" tIns="0" rIns="0" bIns="0" rtlCol="0" anchor="ctr"/>
          <a:lstStyle/>
          <a:p>
            <a:pPr indent="0" marL="0">
              <a:buNone/>
            </a:pPr>
            <a:r>
              <a:rPr lang="en-US" sz="1150" b="1" dirty="0">
                <a:solidFill>
                  <a:srgbClr val="5B6B7A"/>
                </a:solidFill>
                <a:latin typeface="Calibri" pitchFamily="34" charset="0"/>
                <a:ea typeface="Calibri" pitchFamily="34" charset="-122"/>
                <a:cs typeface="Calibri" pitchFamily="34" charset="-120"/>
              </a:rPr>
              <a:t>?  WHY WE DO THIS</a:t>
            </a:r>
            <a:endParaRPr lang="en-US" sz="1150" dirty="0"/>
          </a:p>
        </p:txBody>
      </p:sp>
      <p:sp>
        <p:nvSpPr>
          <p:cNvPr id="16" name="Text 14"/>
          <p:cNvSpPr txBox="1"/>
          <p:nvPr/>
        </p:nvSpPr>
        <p:spPr>
          <a:xfrm>
            <a:off x="7699248" y="3902659"/>
            <a:ext cx="3749040" cy="916229"/>
          </a:xfrm>
          <a:prstGeom prst="rect">
            <a:avLst/>
          </a:prstGeom>
          <a:noFill/>
          <a:ln/>
        </p:spPr>
        <p:txBody>
          <a:bodyPr wrap="square" lIns="0" tIns="0" rIns="0" bIns="0" rtlCol="0" anchor="t"/>
          <a:lstStyle/>
          <a:p>
            <a:pPr indent="0" marL="0">
              <a:lnSpc>
                <a:spcPct val="112000"/>
              </a:lnSpc>
              <a:buNone/>
            </a:pPr>
            <a:r>
              <a:rPr lang="en-US" sz="1300" dirty="0">
                <a:solidFill>
                  <a:srgbClr val="1A2733"/>
                </a:solidFill>
                <a:latin typeface="Calibri" pitchFamily="34" charset="0"/>
                <a:ea typeface="Calibri" pitchFamily="34" charset="-122"/>
                <a:cs typeface="Calibri" pitchFamily="34" charset="-120"/>
              </a:rPr>
              <a:t>tail -f streams new lines as they arrive and grep filters to your attacker. You will see the block appear the moment the scan lands.</a:t>
            </a:r>
            <a:endParaRPr lang="en-US" sz="1300" dirty="0"/>
          </a:p>
        </p:txBody>
      </p:sp>
      <p:sp>
        <p:nvSpPr>
          <p:cNvPr id="17" name="Shape 15"/>
          <p:cNvSpPr/>
          <p:nvPr/>
        </p:nvSpPr>
        <p:spPr>
          <a:xfrm>
            <a:off x="548640" y="5257800"/>
            <a:ext cx="11064240" cy="1005840"/>
          </a:xfrm>
          <a:prstGeom prst="roundRect">
            <a:avLst>
              <a:gd name="adj" fmla="val 7273"/>
            </a:avLst>
          </a:prstGeom>
          <a:solidFill>
            <a:srgbClr val="FBEBD8"/>
          </a:solidFill>
          <a:ln/>
        </p:spPr>
      </p:sp>
      <p:sp>
        <p:nvSpPr>
          <p:cNvPr id="18" name="Text 16"/>
          <p:cNvSpPr txBox="1"/>
          <p:nvPr/>
        </p:nvSpPr>
        <p:spPr>
          <a:xfrm>
            <a:off x="777240" y="5303520"/>
            <a:ext cx="10607040" cy="914400"/>
          </a:xfrm>
          <a:prstGeom prst="rect">
            <a:avLst/>
          </a:prstGeom>
          <a:noFill/>
          <a:ln/>
        </p:spPr>
        <p:txBody>
          <a:bodyPr wrap="square" lIns="0" tIns="0" rIns="0" bIns="0" rtlCol="0" anchor="ctr"/>
          <a:lstStyle/>
          <a:p>
            <a:pPr indent="0" marL="0">
              <a:lnSpc>
                <a:spcPct val="110000"/>
              </a:lnSpc>
              <a:buNone/>
            </a:pPr>
            <a:r>
              <a:rPr lang="en-US" sz="1300" b="1" dirty="0">
                <a:solidFill>
                  <a:srgbClr val="B4571A"/>
                </a:solidFill>
                <a:latin typeface="Calibri" pitchFamily="34" charset="0"/>
                <a:ea typeface="Calibri" pitchFamily="34" charset="-122"/>
                <a:cs typeface="Calibri" pitchFamily="34" charset="-120"/>
              </a:rPr>
              <a:t>⚠  WATCH OUT:  </a:t>
            </a:r>
            <a:pPr indent="0" marL="0">
              <a:lnSpc>
                <a:spcPct val="110000"/>
              </a:lnSpc>
              <a:buNone/>
            </a:pPr>
            <a:r>
              <a:rPr lang="en-US" sz="1300" dirty="0">
                <a:solidFill>
                  <a:srgbClr val="0F2540"/>
                </a:solidFill>
                <a:latin typeface="Calibri" pitchFamily="34" charset="0"/>
                <a:ea typeface="Calibri" pitchFamily="34" charset="-122"/>
                <a:cs typeface="Calibri" pitchFamily="34" charset="-120"/>
              </a:rPr>
              <a:t>The handout's grep shows "Attcker IP" — a placeholder with a typo. Replace the whole thing with SRC= and the real address.</a:t>
            </a:r>
            <a:endParaRPr lang="en-US" sz="1300" dirty="0"/>
          </a:p>
        </p:txBody>
      </p:sp>
      <p:sp>
        <p:nvSpPr>
          <p:cNvPr id="19" name="Text 17"/>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0" name="Text 18"/>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STEP 3</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WALKTHROUGH — STEP 4</a:t>
            </a:r>
            <a:endParaRPr lang="en-US" sz="1300" dirty="0"/>
          </a:p>
        </p:txBody>
      </p:sp>
      <p:sp>
        <p:nvSpPr>
          <p:cNvPr id="3" name="Text 1"/>
          <p:cNvSpPr txBox="1"/>
          <p:nvPr/>
        </p:nvSpPr>
        <p:spPr>
          <a:xfrm>
            <a:off x="502920" y="658368"/>
            <a:ext cx="813816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Run the Scan from Kali</a:t>
            </a:r>
            <a:endParaRPr lang="en-US" sz="2800" dirty="0"/>
          </a:p>
        </p:txBody>
      </p:sp>
      <p:sp>
        <p:nvSpPr>
          <p:cNvPr id="4" name="Shape 2"/>
          <p:cNvSpPr/>
          <p:nvPr/>
        </p:nvSpPr>
        <p:spPr>
          <a:xfrm>
            <a:off x="8915400" y="457200"/>
            <a:ext cx="2697480" cy="457200"/>
          </a:xfrm>
          <a:prstGeom prst="roundRect">
            <a:avLst>
              <a:gd name="adj" fmla="val 50000"/>
            </a:avLst>
          </a:prstGeom>
          <a:solidFill>
            <a:srgbClr val="D9822B"/>
          </a:solidFill>
          <a:ln/>
        </p:spPr>
      </p:sp>
      <p:sp>
        <p:nvSpPr>
          <p:cNvPr id="5" name="Text 3"/>
          <p:cNvSpPr txBox="1"/>
          <p:nvPr/>
        </p:nvSpPr>
        <p:spPr>
          <a:xfrm>
            <a:off x="8915400" y="457200"/>
            <a:ext cx="2697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ATTACKER  ·  Kali</a:t>
            </a:r>
            <a:endParaRPr lang="en-US" sz="1250" dirty="0"/>
          </a:p>
        </p:txBody>
      </p:sp>
      <p:sp>
        <p:nvSpPr>
          <p:cNvPr id="6" name="Shape 4"/>
          <p:cNvSpPr/>
          <p:nvPr/>
        </p:nvSpPr>
        <p:spPr>
          <a:xfrm>
            <a:off x="548640" y="1554480"/>
            <a:ext cx="6720840" cy="3520440"/>
          </a:xfrm>
          <a:prstGeom prst="roundRect">
            <a:avLst>
              <a:gd name="adj" fmla="val 2078"/>
            </a:avLst>
          </a:prstGeom>
          <a:solidFill>
            <a:srgbClr val="0F2540"/>
          </a:solidFill>
          <a:ln/>
        </p:spPr>
      </p:sp>
      <p:sp>
        <p:nvSpPr>
          <p:cNvPr id="7" name="Shape 5"/>
          <p:cNvSpPr/>
          <p:nvPr/>
        </p:nvSpPr>
        <p:spPr>
          <a:xfrm>
            <a:off x="749808" y="1719072"/>
            <a:ext cx="128016" cy="128016"/>
          </a:xfrm>
          <a:prstGeom prst="ellipse">
            <a:avLst/>
          </a:prstGeom>
          <a:solidFill>
            <a:srgbClr val="E06C75"/>
          </a:solidFill>
          <a:ln/>
        </p:spPr>
      </p:sp>
      <p:sp>
        <p:nvSpPr>
          <p:cNvPr id="8" name="Shape 6"/>
          <p:cNvSpPr/>
          <p:nvPr/>
        </p:nvSpPr>
        <p:spPr>
          <a:xfrm>
            <a:off x="987552" y="1719072"/>
            <a:ext cx="128016" cy="128016"/>
          </a:xfrm>
          <a:prstGeom prst="ellipse">
            <a:avLst/>
          </a:prstGeom>
          <a:solidFill>
            <a:srgbClr val="E5C07B"/>
          </a:solidFill>
          <a:ln/>
        </p:spPr>
      </p:sp>
      <p:sp>
        <p:nvSpPr>
          <p:cNvPr id="9" name="Shape 7"/>
          <p:cNvSpPr/>
          <p:nvPr/>
        </p:nvSpPr>
        <p:spPr>
          <a:xfrm>
            <a:off x="1225296" y="1719072"/>
            <a:ext cx="128016" cy="128016"/>
          </a:xfrm>
          <a:prstGeom prst="ellipse">
            <a:avLst/>
          </a:prstGeom>
          <a:solidFill>
            <a:srgbClr val="98C379"/>
          </a:solidFill>
          <a:ln/>
        </p:spPr>
      </p:sp>
      <p:sp>
        <p:nvSpPr>
          <p:cNvPr id="10" name="Text 8"/>
          <p:cNvSpPr txBox="1"/>
          <p:nvPr/>
        </p:nvSpPr>
        <p:spPr>
          <a:xfrm>
            <a:off x="777240" y="2011680"/>
            <a:ext cx="6355080" cy="2926080"/>
          </a:xfrm>
          <a:prstGeom prst="rect">
            <a:avLst/>
          </a:prstGeom>
          <a:noFill/>
          <a:ln/>
        </p:spPr>
        <p:txBody>
          <a:bodyPr wrap="square" lIns="0" tIns="0" rIns="0" bIns="0" rtlCol="0" anchor="t"/>
          <a:lstStyle/>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The assignment scan</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nmap -sS -p 80 TARGET_IP</a:t>
            </a:r>
            <a:endParaRPr lang="en-US" sz="1350" dirty="0"/>
          </a:p>
          <a:p>
            <a:pPr indent="0" marL="0">
              <a:lnSpc>
                <a:spcPct val="120000"/>
              </a:lnSpc>
              <a:buNone/>
            </a:pP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Optional: a real range scan</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nmap -sS -p 20-100 TARGET_IP</a:t>
            </a:r>
            <a:endParaRPr lang="en-US" sz="1350" dirty="0"/>
          </a:p>
        </p:txBody>
      </p:sp>
      <p:sp>
        <p:nvSpPr>
          <p:cNvPr id="11" name="Shape 9"/>
          <p:cNvSpPr/>
          <p:nvPr/>
        </p:nvSpPr>
        <p:spPr>
          <a:xfrm>
            <a:off x="7498080" y="1554480"/>
            <a:ext cx="4114800" cy="1735531"/>
          </a:xfrm>
          <a:prstGeom prst="roundRect">
            <a:avLst>
              <a:gd name="adj" fmla="val 4215"/>
            </a:avLst>
          </a:prstGeom>
          <a:solidFill>
            <a:srgbClr val="E4F0F1"/>
          </a:solidFill>
          <a:ln/>
        </p:spPr>
      </p:sp>
      <p:sp>
        <p:nvSpPr>
          <p:cNvPr id="12" name="Text 10"/>
          <p:cNvSpPr txBox="1"/>
          <p:nvPr/>
        </p:nvSpPr>
        <p:spPr>
          <a:xfrm>
            <a:off x="7699248" y="1673352"/>
            <a:ext cx="3749040" cy="274320"/>
          </a:xfrm>
          <a:prstGeom prst="rect">
            <a:avLst/>
          </a:prstGeom>
          <a:noFill/>
          <a:ln/>
        </p:spPr>
        <p:txBody>
          <a:bodyPr wrap="square" lIns="0" tIns="0" rIns="0" bIns="0" rtlCol="0" anchor="ctr"/>
          <a:lstStyle/>
          <a:p>
            <a:pPr indent="0" marL="0">
              <a:buNone/>
            </a:pPr>
            <a:r>
              <a:rPr lang="en-US" sz="1150" b="1" dirty="0">
                <a:solidFill>
                  <a:srgbClr val="0B5F67"/>
                </a:solidFill>
                <a:latin typeface="Calibri" pitchFamily="34" charset="0"/>
                <a:ea typeface="Calibri" pitchFamily="34" charset="-122"/>
                <a:cs typeface="Calibri" pitchFamily="34" charset="-120"/>
              </a:rPr>
              <a:t>✓  WHAT YOU SHOULD SEE</a:t>
            </a:r>
            <a:endParaRPr lang="en-US" sz="1150" dirty="0"/>
          </a:p>
        </p:txBody>
      </p:sp>
      <p:sp>
        <p:nvSpPr>
          <p:cNvPr id="13" name="Text 11"/>
          <p:cNvSpPr txBox="1"/>
          <p:nvPr/>
        </p:nvSpPr>
        <p:spPr>
          <a:xfrm>
            <a:off x="7699248" y="1984248"/>
            <a:ext cx="3749040" cy="1232611"/>
          </a:xfrm>
          <a:prstGeom prst="rect">
            <a:avLst/>
          </a:prstGeom>
          <a:noFill/>
          <a:ln/>
        </p:spPr>
        <p:txBody>
          <a:bodyPr wrap="square" lIns="0" tIns="0" rIns="0" bIns="0" rtlCol="0" anchor="t"/>
          <a:lstStyle/>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PORT    STATE     SERVICE</a:t>
            </a:r>
            <a:endParaRPr lang="en-US" sz="1300" dirty="0"/>
          </a:p>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80/tcp  filtered  http</a:t>
            </a:r>
            <a:endParaRPr lang="en-US" sz="1300" dirty="0"/>
          </a:p>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UFW dropped the SYN, so nmap got no answer. In the range scan, 22/tcp is open (SSH allowed).</a:t>
            </a:r>
            <a:endParaRPr lang="en-US" sz="1300" dirty="0"/>
          </a:p>
        </p:txBody>
      </p:sp>
      <p:sp>
        <p:nvSpPr>
          <p:cNvPr id="14" name="Shape 12"/>
          <p:cNvSpPr/>
          <p:nvPr/>
        </p:nvSpPr>
        <p:spPr>
          <a:xfrm>
            <a:off x="7498080" y="3472891"/>
            <a:ext cx="4114800" cy="1602029"/>
          </a:xfrm>
          <a:prstGeom prst="roundRect">
            <a:avLst>
              <a:gd name="adj" fmla="val 4566"/>
            </a:avLst>
          </a:prstGeom>
          <a:solidFill>
            <a:srgbClr val="EEF2F4"/>
          </a:solidFill>
          <a:ln/>
        </p:spPr>
      </p:sp>
      <p:sp>
        <p:nvSpPr>
          <p:cNvPr id="15" name="Text 13"/>
          <p:cNvSpPr txBox="1"/>
          <p:nvPr/>
        </p:nvSpPr>
        <p:spPr>
          <a:xfrm>
            <a:off x="7699248" y="3591763"/>
            <a:ext cx="3749040" cy="274320"/>
          </a:xfrm>
          <a:prstGeom prst="rect">
            <a:avLst/>
          </a:prstGeom>
          <a:noFill/>
          <a:ln/>
        </p:spPr>
        <p:txBody>
          <a:bodyPr wrap="square" lIns="0" tIns="0" rIns="0" bIns="0" rtlCol="0" anchor="ctr"/>
          <a:lstStyle/>
          <a:p>
            <a:pPr indent="0" marL="0">
              <a:buNone/>
            </a:pPr>
            <a:r>
              <a:rPr lang="en-US" sz="1150" b="1" dirty="0">
                <a:solidFill>
                  <a:srgbClr val="5B6B7A"/>
                </a:solidFill>
                <a:latin typeface="Calibri" pitchFamily="34" charset="0"/>
                <a:ea typeface="Calibri" pitchFamily="34" charset="-122"/>
                <a:cs typeface="Calibri" pitchFamily="34" charset="-120"/>
              </a:rPr>
              <a:t>?  WHY WE DO THIS</a:t>
            </a:r>
            <a:endParaRPr lang="en-US" sz="1150" dirty="0"/>
          </a:p>
        </p:txBody>
      </p:sp>
      <p:sp>
        <p:nvSpPr>
          <p:cNvPr id="16" name="Text 14"/>
          <p:cNvSpPr txBox="1"/>
          <p:nvPr/>
        </p:nvSpPr>
        <p:spPr>
          <a:xfrm>
            <a:off x="7699248" y="3902659"/>
            <a:ext cx="3749040" cy="916229"/>
          </a:xfrm>
          <a:prstGeom prst="rect">
            <a:avLst/>
          </a:prstGeom>
          <a:noFill/>
          <a:ln/>
        </p:spPr>
        <p:txBody>
          <a:bodyPr wrap="square" lIns="0" tIns="0" rIns="0" bIns="0" rtlCol="0" anchor="t"/>
          <a:lstStyle/>
          <a:p>
            <a:pPr indent="0" marL="0">
              <a:lnSpc>
                <a:spcPct val="112000"/>
              </a:lnSpc>
              <a:buNone/>
            </a:pPr>
            <a:r>
              <a:rPr lang="en-US" sz="1300" dirty="0">
                <a:solidFill>
                  <a:srgbClr val="1A2733"/>
                </a:solidFill>
                <a:latin typeface="Calibri" pitchFamily="34" charset="0"/>
                <a:ea typeface="Calibri" pitchFamily="34" charset="-122"/>
                <a:cs typeface="Calibri" pitchFamily="34" charset="-120"/>
              </a:rPr>
              <a:t>A silent drop gives nmap nothing to read, so it can only say "filtered". Had you used ufw reject, the target would send a reset and nmap would say "closed".</a:t>
            </a:r>
            <a:endParaRPr lang="en-US" sz="1300" dirty="0"/>
          </a:p>
        </p:txBody>
      </p:sp>
      <p:sp>
        <p:nvSpPr>
          <p:cNvPr id="17" name="Shape 15"/>
          <p:cNvSpPr/>
          <p:nvPr/>
        </p:nvSpPr>
        <p:spPr>
          <a:xfrm>
            <a:off x="548640" y="5257800"/>
            <a:ext cx="11064240" cy="1005840"/>
          </a:xfrm>
          <a:prstGeom prst="roundRect">
            <a:avLst>
              <a:gd name="adj" fmla="val 7273"/>
            </a:avLst>
          </a:prstGeom>
          <a:solidFill>
            <a:srgbClr val="E4F0F1"/>
          </a:solidFill>
          <a:ln/>
        </p:spPr>
      </p:sp>
      <p:sp>
        <p:nvSpPr>
          <p:cNvPr id="18" name="Text 16"/>
          <p:cNvSpPr txBox="1"/>
          <p:nvPr/>
        </p:nvSpPr>
        <p:spPr>
          <a:xfrm>
            <a:off x="777240" y="5303520"/>
            <a:ext cx="10607040" cy="914400"/>
          </a:xfrm>
          <a:prstGeom prst="rect">
            <a:avLst/>
          </a:prstGeom>
          <a:noFill/>
          <a:ln/>
        </p:spPr>
        <p:txBody>
          <a:bodyPr wrap="square" lIns="0" tIns="0" rIns="0" bIns="0" rtlCol="0" anchor="ctr"/>
          <a:lstStyle/>
          <a:p>
            <a:pPr indent="0" marL="0">
              <a:lnSpc>
                <a:spcPct val="110000"/>
              </a:lnSpc>
              <a:buNone/>
            </a:pPr>
            <a:r>
              <a:rPr lang="en-US" sz="1300" b="1" dirty="0">
                <a:solidFill>
                  <a:srgbClr val="0B5F67"/>
                </a:solidFill>
                <a:latin typeface="Calibri" pitchFamily="34" charset="0"/>
                <a:ea typeface="Calibri" pitchFamily="34" charset="-122"/>
                <a:cs typeface="Calibri" pitchFamily="34" charset="-120"/>
              </a:rPr>
              <a:t>TIP:  </a:t>
            </a:r>
            <a:pPr indent="0" marL="0">
              <a:lnSpc>
                <a:spcPct val="110000"/>
              </a:lnSpc>
              <a:buNone/>
            </a:pPr>
            <a:r>
              <a:rPr lang="en-US" sz="1300" dirty="0">
                <a:solidFill>
                  <a:srgbClr val="0F2540"/>
                </a:solidFill>
                <a:latin typeface="Calibri" pitchFamily="34" charset="0"/>
                <a:ea typeface="Calibri" pitchFamily="34" charset="-122"/>
                <a:cs typeface="Calibri" pitchFamily="34" charset="-120"/>
              </a:rPr>
              <a:t>Optional before/after: run the scan once before Step 2. With Apache installed you should see 80/tcp open. After the rule, the same scan shows filtered.</a:t>
            </a:r>
            <a:endParaRPr lang="en-US" sz="1300" dirty="0"/>
          </a:p>
        </p:txBody>
      </p:sp>
      <p:sp>
        <p:nvSpPr>
          <p:cNvPr id="19" name="Text 17"/>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0" name="Text 18"/>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STEP 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WALKTHROUGH — STEP 5</a:t>
            </a:r>
            <a:endParaRPr lang="en-US" sz="1300" dirty="0"/>
          </a:p>
        </p:txBody>
      </p:sp>
      <p:sp>
        <p:nvSpPr>
          <p:cNvPr id="3" name="Text 1"/>
          <p:cNvSpPr txBox="1"/>
          <p:nvPr/>
        </p:nvSpPr>
        <p:spPr>
          <a:xfrm>
            <a:off x="502920" y="658368"/>
            <a:ext cx="813816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Find the Evidence in the Log</a:t>
            </a:r>
            <a:endParaRPr lang="en-US" sz="2800" dirty="0"/>
          </a:p>
        </p:txBody>
      </p:sp>
      <p:sp>
        <p:nvSpPr>
          <p:cNvPr id="4" name="Shape 2"/>
          <p:cNvSpPr/>
          <p:nvPr/>
        </p:nvSpPr>
        <p:spPr>
          <a:xfrm>
            <a:off x="8915400" y="457200"/>
            <a:ext cx="2697480" cy="457200"/>
          </a:xfrm>
          <a:prstGeom prst="roundRect">
            <a:avLst>
              <a:gd name="adj" fmla="val 50000"/>
            </a:avLst>
          </a:prstGeom>
          <a:solidFill>
            <a:srgbClr val="0E7C86"/>
          </a:solidFill>
          <a:ln/>
        </p:spPr>
      </p:sp>
      <p:sp>
        <p:nvSpPr>
          <p:cNvPr id="5" name="Text 3"/>
          <p:cNvSpPr txBox="1"/>
          <p:nvPr/>
        </p:nvSpPr>
        <p:spPr>
          <a:xfrm>
            <a:off x="8915400" y="457200"/>
            <a:ext cx="2697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TARGET  ·  Ubuntu</a:t>
            </a:r>
            <a:endParaRPr lang="en-US" sz="1250" dirty="0"/>
          </a:p>
        </p:txBody>
      </p:sp>
      <p:sp>
        <p:nvSpPr>
          <p:cNvPr id="6" name="Shape 4"/>
          <p:cNvSpPr/>
          <p:nvPr/>
        </p:nvSpPr>
        <p:spPr>
          <a:xfrm>
            <a:off x="548640" y="1554480"/>
            <a:ext cx="6720840" cy="3520440"/>
          </a:xfrm>
          <a:prstGeom prst="roundRect">
            <a:avLst>
              <a:gd name="adj" fmla="val 2078"/>
            </a:avLst>
          </a:prstGeom>
          <a:solidFill>
            <a:srgbClr val="0F2540"/>
          </a:solidFill>
          <a:ln/>
        </p:spPr>
      </p:sp>
      <p:sp>
        <p:nvSpPr>
          <p:cNvPr id="7" name="Shape 5"/>
          <p:cNvSpPr/>
          <p:nvPr/>
        </p:nvSpPr>
        <p:spPr>
          <a:xfrm>
            <a:off x="749808" y="1719072"/>
            <a:ext cx="128016" cy="128016"/>
          </a:xfrm>
          <a:prstGeom prst="ellipse">
            <a:avLst/>
          </a:prstGeom>
          <a:solidFill>
            <a:srgbClr val="E06C75"/>
          </a:solidFill>
          <a:ln/>
        </p:spPr>
      </p:sp>
      <p:sp>
        <p:nvSpPr>
          <p:cNvPr id="8" name="Shape 6"/>
          <p:cNvSpPr/>
          <p:nvPr/>
        </p:nvSpPr>
        <p:spPr>
          <a:xfrm>
            <a:off x="987552" y="1719072"/>
            <a:ext cx="128016" cy="128016"/>
          </a:xfrm>
          <a:prstGeom prst="ellipse">
            <a:avLst/>
          </a:prstGeom>
          <a:solidFill>
            <a:srgbClr val="E5C07B"/>
          </a:solidFill>
          <a:ln/>
        </p:spPr>
      </p:sp>
      <p:sp>
        <p:nvSpPr>
          <p:cNvPr id="9" name="Shape 7"/>
          <p:cNvSpPr/>
          <p:nvPr/>
        </p:nvSpPr>
        <p:spPr>
          <a:xfrm>
            <a:off x="1225296" y="1719072"/>
            <a:ext cx="128016" cy="128016"/>
          </a:xfrm>
          <a:prstGeom prst="ellipse">
            <a:avLst/>
          </a:prstGeom>
          <a:solidFill>
            <a:srgbClr val="98C379"/>
          </a:solidFill>
          <a:ln/>
        </p:spPr>
      </p:sp>
      <p:sp>
        <p:nvSpPr>
          <p:cNvPr id="10" name="Text 8"/>
          <p:cNvSpPr txBox="1"/>
          <p:nvPr/>
        </p:nvSpPr>
        <p:spPr>
          <a:xfrm>
            <a:off x="777240" y="2011680"/>
            <a:ext cx="6355080" cy="2926080"/>
          </a:xfrm>
          <a:prstGeom prst="rect">
            <a:avLst/>
          </a:prstGeom>
          <a:noFill/>
          <a:ln/>
        </p:spPr>
        <p:txBody>
          <a:bodyPr wrap="square" lIns="0" tIns="0" rIns="0" bIns="0" rtlCol="0" anchor="t"/>
          <a:lstStyle/>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Your live tail should now print lines. Or search after the fact:</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grep "UFW BLOCK" /var/log/ufw.log | grep "SRC=ATTACKER_IP" | tail -5</a:t>
            </a:r>
            <a:endParaRPr lang="en-US" sz="1350" dirty="0"/>
          </a:p>
          <a:p>
            <a:pPr indent="0" marL="0">
              <a:lnSpc>
                <a:spcPct val="120000"/>
              </a:lnSpc>
              <a:buNone/>
            </a:pP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Narrow to the port:</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grep "DPT=80" /var/log/ufw.log | tail -5</a:t>
            </a:r>
            <a:endParaRPr lang="en-US" sz="1350" dirty="0"/>
          </a:p>
        </p:txBody>
      </p:sp>
      <p:sp>
        <p:nvSpPr>
          <p:cNvPr id="11" name="Shape 9"/>
          <p:cNvSpPr/>
          <p:nvPr/>
        </p:nvSpPr>
        <p:spPr>
          <a:xfrm>
            <a:off x="7498080" y="1554480"/>
            <a:ext cx="4114800" cy="1735531"/>
          </a:xfrm>
          <a:prstGeom prst="roundRect">
            <a:avLst>
              <a:gd name="adj" fmla="val 4215"/>
            </a:avLst>
          </a:prstGeom>
          <a:solidFill>
            <a:srgbClr val="E4F0F1"/>
          </a:solidFill>
          <a:ln/>
        </p:spPr>
      </p:sp>
      <p:sp>
        <p:nvSpPr>
          <p:cNvPr id="12" name="Text 10"/>
          <p:cNvSpPr txBox="1"/>
          <p:nvPr/>
        </p:nvSpPr>
        <p:spPr>
          <a:xfrm>
            <a:off x="7699248" y="1673352"/>
            <a:ext cx="3749040" cy="274320"/>
          </a:xfrm>
          <a:prstGeom prst="rect">
            <a:avLst/>
          </a:prstGeom>
          <a:noFill/>
          <a:ln/>
        </p:spPr>
        <p:txBody>
          <a:bodyPr wrap="square" lIns="0" tIns="0" rIns="0" bIns="0" rtlCol="0" anchor="ctr"/>
          <a:lstStyle/>
          <a:p>
            <a:pPr indent="0" marL="0">
              <a:buNone/>
            </a:pPr>
            <a:r>
              <a:rPr lang="en-US" sz="1150" b="1" dirty="0">
                <a:solidFill>
                  <a:srgbClr val="0B5F67"/>
                </a:solidFill>
                <a:latin typeface="Calibri" pitchFamily="34" charset="0"/>
                <a:ea typeface="Calibri" pitchFamily="34" charset="-122"/>
                <a:cs typeface="Calibri" pitchFamily="34" charset="-120"/>
              </a:rPr>
              <a:t>✓  WHAT YOU SHOULD SEE</a:t>
            </a:r>
            <a:endParaRPr lang="en-US" sz="1150" dirty="0"/>
          </a:p>
        </p:txBody>
      </p:sp>
      <p:sp>
        <p:nvSpPr>
          <p:cNvPr id="13" name="Text 11"/>
          <p:cNvSpPr txBox="1"/>
          <p:nvPr/>
        </p:nvSpPr>
        <p:spPr>
          <a:xfrm>
            <a:off x="7699248" y="1984248"/>
            <a:ext cx="3749040" cy="1232611"/>
          </a:xfrm>
          <a:prstGeom prst="rect">
            <a:avLst/>
          </a:prstGeom>
          <a:noFill/>
          <a:ln/>
        </p:spPr>
        <p:txBody>
          <a:bodyPr wrap="square" lIns="0" tIns="0" rIns="0" bIns="0" rtlCol="0" anchor="t"/>
          <a:lstStyle/>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One or more [UFW BLOCK] lines with SRC= your Kali IP, DPT=80, PROTO=TCP and the SYN flag, each starting with a timestamp.</a:t>
            </a:r>
            <a:endParaRPr lang="en-US" sz="1300" dirty="0"/>
          </a:p>
        </p:txBody>
      </p:sp>
      <p:sp>
        <p:nvSpPr>
          <p:cNvPr id="14" name="Shape 12"/>
          <p:cNvSpPr/>
          <p:nvPr/>
        </p:nvSpPr>
        <p:spPr>
          <a:xfrm>
            <a:off x="7498080" y="3472891"/>
            <a:ext cx="4114800" cy="1602029"/>
          </a:xfrm>
          <a:prstGeom prst="roundRect">
            <a:avLst>
              <a:gd name="adj" fmla="val 4566"/>
            </a:avLst>
          </a:prstGeom>
          <a:solidFill>
            <a:srgbClr val="EEF2F4"/>
          </a:solidFill>
          <a:ln/>
        </p:spPr>
      </p:sp>
      <p:sp>
        <p:nvSpPr>
          <p:cNvPr id="15" name="Text 13"/>
          <p:cNvSpPr txBox="1"/>
          <p:nvPr/>
        </p:nvSpPr>
        <p:spPr>
          <a:xfrm>
            <a:off x="7699248" y="3591763"/>
            <a:ext cx="3749040" cy="274320"/>
          </a:xfrm>
          <a:prstGeom prst="rect">
            <a:avLst/>
          </a:prstGeom>
          <a:noFill/>
          <a:ln/>
        </p:spPr>
        <p:txBody>
          <a:bodyPr wrap="square" lIns="0" tIns="0" rIns="0" bIns="0" rtlCol="0" anchor="ctr"/>
          <a:lstStyle/>
          <a:p>
            <a:pPr indent="0" marL="0">
              <a:buNone/>
            </a:pPr>
            <a:r>
              <a:rPr lang="en-US" sz="1150" b="1" dirty="0">
                <a:solidFill>
                  <a:srgbClr val="5B6B7A"/>
                </a:solidFill>
                <a:latin typeface="Calibri" pitchFamily="34" charset="0"/>
                <a:ea typeface="Calibri" pitchFamily="34" charset="-122"/>
                <a:cs typeface="Calibri" pitchFamily="34" charset="-120"/>
              </a:rPr>
              <a:t>?  WHY WE DO THIS</a:t>
            </a:r>
            <a:endParaRPr lang="en-US" sz="1150" dirty="0"/>
          </a:p>
        </p:txBody>
      </p:sp>
      <p:sp>
        <p:nvSpPr>
          <p:cNvPr id="16" name="Text 14"/>
          <p:cNvSpPr txBox="1"/>
          <p:nvPr/>
        </p:nvSpPr>
        <p:spPr>
          <a:xfrm>
            <a:off x="7699248" y="3902659"/>
            <a:ext cx="3749040" cy="916229"/>
          </a:xfrm>
          <a:prstGeom prst="rect">
            <a:avLst/>
          </a:prstGeom>
          <a:noFill/>
          <a:ln/>
        </p:spPr>
        <p:txBody>
          <a:bodyPr wrap="square" lIns="0" tIns="0" rIns="0" bIns="0" rtlCol="0" anchor="t"/>
          <a:lstStyle/>
          <a:p>
            <a:pPr indent="0" marL="0">
              <a:lnSpc>
                <a:spcPct val="112000"/>
              </a:lnSpc>
              <a:buNone/>
            </a:pPr>
            <a:r>
              <a:rPr lang="en-US" sz="1300" dirty="0">
                <a:solidFill>
                  <a:srgbClr val="1A2733"/>
                </a:solidFill>
                <a:latin typeface="Calibri" pitchFamily="34" charset="0"/>
                <a:ea typeface="Calibri" pitchFamily="34" charset="-122"/>
                <a:cs typeface="Calibri" pitchFamily="34" charset="-120"/>
              </a:rPr>
              <a:t>This is the detection. A source IP, a port, and a time are enough to start an incident timeline.</a:t>
            </a:r>
            <a:endParaRPr lang="en-US" sz="1300" dirty="0"/>
          </a:p>
        </p:txBody>
      </p:sp>
      <p:sp>
        <p:nvSpPr>
          <p:cNvPr id="17" name="Shape 15"/>
          <p:cNvSpPr/>
          <p:nvPr/>
        </p:nvSpPr>
        <p:spPr>
          <a:xfrm>
            <a:off x="548640" y="5257800"/>
            <a:ext cx="11064240" cy="1005840"/>
          </a:xfrm>
          <a:prstGeom prst="roundRect">
            <a:avLst>
              <a:gd name="adj" fmla="val 7273"/>
            </a:avLst>
          </a:prstGeom>
          <a:solidFill>
            <a:srgbClr val="E4F0F1"/>
          </a:solidFill>
          <a:ln/>
        </p:spPr>
      </p:sp>
      <p:sp>
        <p:nvSpPr>
          <p:cNvPr id="18" name="Text 16"/>
          <p:cNvSpPr txBox="1"/>
          <p:nvPr/>
        </p:nvSpPr>
        <p:spPr>
          <a:xfrm>
            <a:off x="777240" y="5303520"/>
            <a:ext cx="10607040" cy="914400"/>
          </a:xfrm>
          <a:prstGeom prst="rect">
            <a:avLst/>
          </a:prstGeom>
          <a:noFill/>
          <a:ln/>
        </p:spPr>
        <p:txBody>
          <a:bodyPr wrap="square" lIns="0" tIns="0" rIns="0" bIns="0" rtlCol="0" anchor="ctr"/>
          <a:lstStyle/>
          <a:p>
            <a:pPr indent="0" marL="0">
              <a:lnSpc>
                <a:spcPct val="110000"/>
              </a:lnSpc>
              <a:buNone/>
            </a:pPr>
            <a:r>
              <a:rPr lang="en-US" sz="1300" b="1" dirty="0">
                <a:solidFill>
                  <a:srgbClr val="0B5F67"/>
                </a:solidFill>
                <a:latin typeface="Calibri" pitchFamily="34" charset="0"/>
                <a:ea typeface="Calibri" pitchFamily="34" charset="-122"/>
                <a:cs typeface="Calibri" pitchFamily="34" charset="-120"/>
              </a:rPr>
              <a:t>TIP:  </a:t>
            </a:r>
            <a:pPr indent="0" marL="0">
              <a:lnSpc>
                <a:spcPct val="110000"/>
              </a:lnSpc>
              <a:buNone/>
            </a:pPr>
            <a:r>
              <a:rPr lang="en-US" sz="1300" dirty="0">
                <a:solidFill>
                  <a:srgbClr val="0F2540"/>
                </a:solidFill>
                <a:latin typeface="Calibri" pitchFamily="34" charset="0"/>
                <a:ea typeface="Calibri" pitchFamily="34" charset="-122"/>
                <a:cs typeface="Calibri" pitchFamily="34" charset="-120"/>
              </a:rPr>
              <a:t>Take your screenshot now with all three facts visible (see "What You Submit"). In a range scan, UFW rate-limits its own logging, so you may see only some of the ports — that is normal.</a:t>
            </a:r>
            <a:endParaRPr lang="en-US" sz="1300" dirty="0"/>
          </a:p>
        </p:txBody>
      </p:sp>
      <p:sp>
        <p:nvSpPr>
          <p:cNvPr id="19" name="Text 17"/>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0" name="Text 18"/>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STEP 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WALKTHROUGH — STEP 6</a:t>
            </a:r>
            <a:endParaRPr lang="en-US" sz="1300" dirty="0"/>
          </a:p>
        </p:txBody>
      </p:sp>
      <p:sp>
        <p:nvSpPr>
          <p:cNvPr id="3" name="Text 1"/>
          <p:cNvSpPr txBox="1"/>
          <p:nvPr/>
        </p:nvSpPr>
        <p:spPr>
          <a:xfrm>
            <a:off x="502920" y="658368"/>
            <a:ext cx="813816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Bonus: See the Same Scan in Wireshark</a:t>
            </a:r>
            <a:endParaRPr lang="en-US" sz="2800" dirty="0"/>
          </a:p>
        </p:txBody>
      </p:sp>
      <p:sp>
        <p:nvSpPr>
          <p:cNvPr id="4" name="Shape 2"/>
          <p:cNvSpPr/>
          <p:nvPr/>
        </p:nvSpPr>
        <p:spPr>
          <a:xfrm>
            <a:off x="8915400" y="457200"/>
            <a:ext cx="2697480" cy="457200"/>
          </a:xfrm>
          <a:prstGeom prst="roundRect">
            <a:avLst>
              <a:gd name="adj" fmla="val 50000"/>
            </a:avLst>
          </a:prstGeom>
          <a:solidFill>
            <a:srgbClr val="0E7C86"/>
          </a:solidFill>
          <a:ln/>
        </p:spPr>
      </p:sp>
      <p:sp>
        <p:nvSpPr>
          <p:cNvPr id="5" name="Text 3"/>
          <p:cNvSpPr txBox="1"/>
          <p:nvPr/>
        </p:nvSpPr>
        <p:spPr>
          <a:xfrm>
            <a:off x="8915400" y="457200"/>
            <a:ext cx="2697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TARGET  ·  Ubuntu</a:t>
            </a:r>
            <a:endParaRPr lang="en-US" sz="1250" dirty="0"/>
          </a:p>
        </p:txBody>
      </p:sp>
      <p:sp>
        <p:nvSpPr>
          <p:cNvPr id="6" name="Shape 4"/>
          <p:cNvSpPr/>
          <p:nvPr/>
        </p:nvSpPr>
        <p:spPr>
          <a:xfrm>
            <a:off x="548640" y="1554480"/>
            <a:ext cx="6720840" cy="3520440"/>
          </a:xfrm>
          <a:prstGeom prst="roundRect">
            <a:avLst>
              <a:gd name="adj" fmla="val 2078"/>
            </a:avLst>
          </a:prstGeom>
          <a:solidFill>
            <a:srgbClr val="0F2540"/>
          </a:solidFill>
          <a:ln/>
        </p:spPr>
      </p:sp>
      <p:sp>
        <p:nvSpPr>
          <p:cNvPr id="7" name="Shape 5"/>
          <p:cNvSpPr/>
          <p:nvPr/>
        </p:nvSpPr>
        <p:spPr>
          <a:xfrm>
            <a:off x="749808" y="1719072"/>
            <a:ext cx="128016" cy="128016"/>
          </a:xfrm>
          <a:prstGeom prst="ellipse">
            <a:avLst/>
          </a:prstGeom>
          <a:solidFill>
            <a:srgbClr val="E06C75"/>
          </a:solidFill>
          <a:ln/>
        </p:spPr>
      </p:sp>
      <p:sp>
        <p:nvSpPr>
          <p:cNvPr id="8" name="Shape 6"/>
          <p:cNvSpPr/>
          <p:nvPr/>
        </p:nvSpPr>
        <p:spPr>
          <a:xfrm>
            <a:off x="987552" y="1719072"/>
            <a:ext cx="128016" cy="128016"/>
          </a:xfrm>
          <a:prstGeom prst="ellipse">
            <a:avLst/>
          </a:prstGeom>
          <a:solidFill>
            <a:srgbClr val="E5C07B"/>
          </a:solidFill>
          <a:ln/>
        </p:spPr>
      </p:sp>
      <p:sp>
        <p:nvSpPr>
          <p:cNvPr id="9" name="Shape 7"/>
          <p:cNvSpPr/>
          <p:nvPr/>
        </p:nvSpPr>
        <p:spPr>
          <a:xfrm>
            <a:off x="1225296" y="1719072"/>
            <a:ext cx="128016" cy="128016"/>
          </a:xfrm>
          <a:prstGeom prst="ellipse">
            <a:avLst/>
          </a:prstGeom>
          <a:solidFill>
            <a:srgbClr val="98C379"/>
          </a:solidFill>
          <a:ln/>
        </p:spPr>
      </p:sp>
      <p:sp>
        <p:nvSpPr>
          <p:cNvPr id="10" name="Text 8"/>
          <p:cNvSpPr txBox="1"/>
          <p:nvPr/>
        </p:nvSpPr>
        <p:spPr>
          <a:xfrm>
            <a:off x="777240" y="2011680"/>
            <a:ext cx="6355080" cy="2926080"/>
          </a:xfrm>
          <a:prstGeom prst="rect">
            <a:avLst/>
          </a:prstGeom>
          <a:noFill/>
          <a:ln/>
        </p:spPr>
        <p:txBody>
          <a:bodyPr wrap="square" lIns="0" tIns="0" rIns="0" bIns="0" rtlCol="0" anchor="t"/>
          <a:lstStyle/>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apt install -y tshark</a:t>
            </a:r>
            <a:endParaRPr lang="en-US" sz="1350" dirty="0"/>
          </a:p>
          <a:p>
            <a:pPr indent="0" marL="0">
              <a:lnSpc>
                <a:spcPct val="120000"/>
              </a:lnSpc>
              <a:buNone/>
            </a:pP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Terminal 3, start BEFORE scanning again:</a:t>
            </a: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sudo tshark -i any -Y "tcp.flags.syn==1 &amp;&amp; tcp.flags.ack==0 &amp;&amp; tcp.dstport==80"</a:t>
            </a:r>
            <a:endParaRPr lang="en-US" sz="1350" dirty="0"/>
          </a:p>
          <a:p>
            <a:pPr indent="0" marL="0">
              <a:lnSpc>
                <a:spcPct val="120000"/>
              </a:lnSpc>
              <a:buNone/>
            </a:pPr>
            <a:endParaRPr lang="en-US" sz="1350" dirty="0"/>
          </a:p>
          <a:p>
            <a:pPr indent="0" marL="0">
              <a:lnSpc>
                <a:spcPct val="120000"/>
              </a:lnSpc>
              <a:buNone/>
            </a:pPr>
            <a:r>
              <a:rPr lang="en-US" sz="1350" dirty="0">
                <a:solidFill>
                  <a:srgbClr val="E6F0F1"/>
                </a:solidFill>
                <a:latin typeface="Courier New" pitchFamily="34" charset="0"/>
                <a:ea typeface="Courier New" pitchFamily="34" charset="-122"/>
                <a:cs typeface="Courier New" pitchFamily="34" charset="-120"/>
              </a:rPr>
              <a:t># Then rerun the nmap scan from Kali</a:t>
            </a:r>
            <a:endParaRPr lang="en-US" sz="1350" dirty="0"/>
          </a:p>
        </p:txBody>
      </p:sp>
      <p:sp>
        <p:nvSpPr>
          <p:cNvPr id="11" name="Shape 9"/>
          <p:cNvSpPr/>
          <p:nvPr/>
        </p:nvSpPr>
        <p:spPr>
          <a:xfrm>
            <a:off x="7498080" y="1554480"/>
            <a:ext cx="4114800" cy="1735531"/>
          </a:xfrm>
          <a:prstGeom prst="roundRect">
            <a:avLst>
              <a:gd name="adj" fmla="val 4215"/>
            </a:avLst>
          </a:prstGeom>
          <a:solidFill>
            <a:srgbClr val="E4F0F1"/>
          </a:solidFill>
          <a:ln/>
        </p:spPr>
      </p:sp>
      <p:sp>
        <p:nvSpPr>
          <p:cNvPr id="12" name="Text 10"/>
          <p:cNvSpPr txBox="1"/>
          <p:nvPr/>
        </p:nvSpPr>
        <p:spPr>
          <a:xfrm>
            <a:off x="7699248" y="1673352"/>
            <a:ext cx="3749040" cy="274320"/>
          </a:xfrm>
          <a:prstGeom prst="rect">
            <a:avLst/>
          </a:prstGeom>
          <a:noFill/>
          <a:ln/>
        </p:spPr>
        <p:txBody>
          <a:bodyPr wrap="square" lIns="0" tIns="0" rIns="0" bIns="0" rtlCol="0" anchor="ctr"/>
          <a:lstStyle/>
          <a:p>
            <a:pPr indent="0" marL="0">
              <a:buNone/>
            </a:pPr>
            <a:r>
              <a:rPr lang="en-US" sz="1150" b="1" dirty="0">
                <a:solidFill>
                  <a:srgbClr val="0B5F67"/>
                </a:solidFill>
                <a:latin typeface="Calibri" pitchFamily="34" charset="0"/>
                <a:ea typeface="Calibri" pitchFamily="34" charset="-122"/>
                <a:cs typeface="Calibri" pitchFamily="34" charset="-120"/>
              </a:rPr>
              <a:t>✓  WHAT YOU SHOULD SEE</a:t>
            </a:r>
            <a:endParaRPr lang="en-US" sz="1150" dirty="0"/>
          </a:p>
        </p:txBody>
      </p:sp>
      <p:sp>
        <p:nvSpPr>
          <p:cNvPr id="13" name="Text 11"/>
          <p:cNvSpPr txBox="1"/>
          <p:nvPr/>
        </p:nvSpPr>
        <p:spPr>
          <a:xfrm>
            <a:off x="7699248" y="1984248"/>
            <a:ext cx="3749040" cy="1232611"/>
          </a:xfrm>
          <a:prstGeom prst="rect">
            <a:avLst/>
          </a:prstGeom>
          <a:noFill/>
          <a:ln/>
        </p:spPr>
        <p:txBody>
          <a:bodyPr wrap="square" lIns="0" tIns="0" rIns="0" bIns="0" rtlCol="0" anchor="t"/>
          <a:lstStyle/>
          <a:p>
            <a:pPr indent="0" marL="0">
              <a:lnSpc>
                <a:spcPct val="112000"/>
              </a:lnSpc>
              <a:buNone/>
            </a:pPr>
            <a:r>
              <a:rPr lang="en-US" sz="1300" dirty="0">
                <a:solidFill>
                  <a:srgbClr val="0F2540"/>
                </a:solidFill>
                <a:latin typeface="Calibri" pitchFamily="34" charset="0"/>
                <a:ea typeface="Calibri" pitchFamily="34" charset="-122"/>
                <a:cs typeface="Calibri" pitchFamily="34" charset="-120"/>
              </a:rPr>
              <a:t>A bare SYN from ATTACKER_IP to port 80 for each probe — the same source, port and (roughly) the same time as the UFW log line.</a:t>
            </a:r>
            <a:endParaRPr lang="en-US" sz="1300" dirty="0"/>
          </a:p>
        </p:txBody>
      </p:sp>
      <p:sp>
        <p:nvSpPr>
          <p:cNvPr id="14" name="Shape 12"/>
          <p:cNvSpPr/>
          <p:nvPr/>
        </p:nvSpPr>
        <p:spPr>
          <a:xfrm>
            <a:off x="7498080" y="3472891"/>
            <a:ext cx="4114800" cy="1602029"/>
          </a:xfrm>
          <a:prstGeom prst="roundRect">
            <a:avLst>
              <a:gd name="adj" fmla="val 4566"/>
            </a:avLst>
          </a:prstGeom>
          <a:solidFill>
            <a:srgbClr val="EEF2F4"/>
          </a:solidFill>
          <a:ln/>
        </p:spPr>
      </p:sp>
      <p:sp>
        <p:nvSpPr>
          <p:cNvPr id="15" name="Text 13"/>
          <p:cNvSpPr txBox="1"/>
          <p:nvPr/>
        </p:nvSpPr>
        <p:spPr>
          <a:xfrm>
            <a:off x="7699248" y="3591763"/>
            <a:ext cx="3749040" cy="274320"/>
          </a:xfrm>
          <a:prstGeom prst="rect">
            <a:avLst/>
          </a:prstGeom>
          <a:noFill/>
          <a:ln/>
        </p:spPr>
        <p:txBody>
          <a:bodyPr wrap="square" lIns="0" tIns="0" rIns="0" bIns="0" rtlCol="0" anchor="ctr"/>
          <a:lstStyle/>
          <a:p>
            <a:pPr indent="0" marL="0">
              <a:buNone/>
            </a:pPr>
            <a:r>
              <a:rPr lang="en-US" sz="1150" b="1" dirty="0">
                <a:solidFill>
                  <a:srgbClr val="5B6B7A"/>
                </a:solidFill>
                <a:latin typeface="Calibri" pitchFamily="34" charset="0"/>
                <a:ea typeface="Calibri" pitchFamily="34" charset="-122"/>
                <a:cs typeface="Calibri" pitchFamily="34" charset="-120"/>
              </a:rPr>
              <a:t>?  WHY WE DO THIS</a:t>
            </a:r>
            <a:endParaRPr lang="en-US" sz="1150" dirty="0"/>
          </a:p>
        </p:txBody>
      </p:sp>
      <p:sp>
        <p:nvSpPr>
          <p:cNvPr id="16" name="Text 14"/>
          <p:cNvSpPr txBox="1"/>
          <p:nvPr/>
        </p:nvSpPr>
        <p:spPr>
          <a:xfrm>
            <a:off x="7699248" y="3902659"/>
            <a:ext cx="3749040" cy="916229"/>
          </a:xfrm>
          <a:prstGeom prst="rect">
            <a:avLst/>
          </a:prstGeom>
          <a:noFill/>
          <a:ln/>
        </p:spPr>
        <p:txBody>
          <a:bodyPr wrap="square" lIns="0" tIns="0" rIns="0" bIns="0" rtlCol="0" anchor="t"/>
          <a:lstStyle/>
          <a:p>
            <a:pPr indent="0" marL="0">
              <a:lnSpc>
                <a:spcPct val="112000"/>
              </a:lnSpc>
              <a:buNone/>
            </a:pPr>
            <a:r>
              <a:rPr lang="en-US" sz="1300" dirty="0">
                <a:solidFill>
                  <a:srgbClr val="1A2733"/>
                </a:solidFill>
                <a:latin typeface="Calibri" pitchFamily="34" charset="0"/>
                <a:ea typeface="Calibri" pitchFamily="34" charset="-122"/>
                <a:cs typeface="Calibri" pitchFamily="34" charset="-120"/>
              </a:rPr>
              <a:t>Module 4's triad in action: the firewall log and the packet capture are two views of one event. Wireshark can see the SYN even though the firewall dropped it.</a:t>
            </a:r>
            <a:endParaRPr lang="en-US" sz="1300" dirty="0"/>
          </a:p>
        </p:txBody>
      </p:sp>
      <p:sp>
        <p:nvSpPr>
          <p:cNvPr id="17" name="Shape 15"/>
          <p:cNvSpPr/>
          <p:nvPr/>
        </p:nvSpPr>
        <p:spPr>
          <a:xfrm>
            <a:off x="548640" y="5257800"/>
            <a:ext cx="11064240" cy="1005840"/>
          </a:xfrm>
          <a:prstGeom prst="roundRect">
            <a:avLst>
              <a:gd name="adj" fmla="val 7273"/>
            </a:avLst>
          </a:prstGeom>
          <a:solidFill>
            <a:srgbClr val="E4F0F1"/>
          </a:solidFill>
          <a:ln/>
        </p:spPr>
      </p:sp>
      <p:sp>
        <p:nvSpPr>
          <p:cNvPr id="18" name="Text 16"/>
          <p:cNvSpPr txBox="1"/>
          <p:nvPr/>
        </p:nvSpPr>
        <p:spPr>
          <a:xfrm>
            <a:off x="777240" y="5303520"/>
            <a:ext cx="10607040" cy="914400"/>
          </a:xfrm>
          <a:prstGeom prst="rect">
            <a:avLst/>
          </a:prstGeom>
          <a:noFill/>
          <a:ln/>
        </p:spPr>
        <p:txBody>
          <a:bodyPr wrap="square" lIns="0" tIns="0" rIns="0" bIns="0" rtlCol="0" anchor="ctr"/>
          <a:lstStyle/>
          <a:p>
            <a:pPr indent="0" marL="0">
              <a:lnSpc>
                <a:spcPct val="110000"/>
              </a:lnSpc>
              <a:buNone/>
            </a:pPr>
            <a:r>
              <a:rPr lang="en-US" sz="1300" b="1" dirty="0">
                <a:solidFill>
                  <a:srgbClr val="0B5F67"/>
                </a:solidFill>
                <a:latin typeface="Calibri" pitchFamily="34" charset="0"/>
                <a:ea typeface="Calibri" pitchFamily="34" charset="-122"/>
                <a:cs typeface="Calibri" pitchFamily="34" charset="-120"/>
              </a:rPr>
              <a:t>TIP:  </a:t>
            </a:r>
            <a:pPr indent="0" marL="0">
              <a:lnSpc>
                <a:spcPct val="110000"/>
              </a:lnSpc>
              <a:buNone/>
            </a:pPr>
            <a:r>
              <a:rPr lang="en-US" sz="1300" dirty="0">
                <a:solidFill>
                  <a:srgbClr val="0F2540"/>
                </a:solidFill>
                <a:latin typeface="Calibri" pitchFamily="34" charset="0"/>
                <a:ea typeface="Calibri" pitchFamily="34" charset="-122"/>
                <a:cs typeface="Calibri" pitchFamily="34" charset="-120"/>
              </a:rPr>
              <a:t>The GUI works too: capture on the target, apply the display filter tcp.flags.syn==1 &amp;&amp; tcp.flags.ack==0, and compare the timestamps with your log entry.</a:t>
            </a:r>
            <a:endParaRPr lang="en-US" sz="1300" dirty="0"/>
          </a:p>
        </p:txBody>
      </p:sp>
      <p:sp>
        <p:nvSpPr>
          <p:cNvPr id="19" name="Text 17"/>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20" name="Text 18"/>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STEP 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IF SOMETHING GOES WRONG</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Troubleshooting</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926080"/>
                <a:gridCol w="3931920"/>
                <a:gridCol w="4206240"/>
              </a:tblGrid>
              <a:tr h="65836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0F2540"/>
                    </a:solidFill>
                  </a:tcPr>
                </a:tc>
              </a:tr>
              <a:tr h="658368">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No lines in ufw.log</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Scan ran before logging was on, or the file is not being written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sudo ufw status verbose (Logging: on). Rescan. Try sudo journalctl -k | grep UFW</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Rule exists but nothing is logged</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Rule has no log keyword</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Delete it (ufw delete N) and re-add with log</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658368">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nmap says "closed", not "filtered"</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Rule does not match your IP, or you used reject</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Check ufw status numbered for the exact attacker IP</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nmap says "Host seems down"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Ping blocked or wrong IP</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Verify with ip -br a, then add -Pn</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r h="658368">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grep prints nothing but the log has lines</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Placeholder IP left in the command</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Replace ATTACKER_IP with the real address</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1A2733"/>
                          </a:solidFill>
                          <a:latin typeface="Calibri" pitchFamily="34" charset="0"/>
                          <a:ea typeface="Calibri" pitchFamily="34" charset="-122"/>
                          <a:cs typeface="Calibri" pitchFamily="34" charset="-120"/>
                        </a:rPr>
                        <a:t>Locked out of SSH</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Enabled UFW without allowing SSH</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c>
                  <a:txBody>
                    <a:bodyPr/>
                    <a:lstStyle/>
                    <a:p>
                      <a:pPr algn="l" indent="0" marL="0">
                        <a:buNone/>
                      </a:pPr>
                      <a:r>
                        <a:rPr lang="en-US" sz="1250" dirty="0">
                          <a:solidFill>
                            <a:srgbClr val="1A2733"/>
                          </a:solidFill>
                          <a:latin typeface="Calibri" pitchFamily="34" charset="0"/>
                          <a:ea typeface="Calibri" pitchFamily="34" charset="-122"/>
                          <a:cs typeface="Calibri" pitchFamily="34" charset="-120"/>
                        </a:rPr>
                        <a:t>Use the VM console: sudo ufw allow ssh</a:t>
                      </a:r>
                      <a:endParaRPr lang="en-US" sz="1250" dirty="0">
                        <a:latin typeface="Calibri" charset="0"/>
                        <a:ea typeface="Calibri" charset="0"/>
                        <a:cs typeface="Calibri" charset="0"/>
                      </a:endParaRPr>
                    </a:p>
                  </a:txBody>
                  <a:tcPr marL="91440" marR="91440" marT="36576" marB="36576" anchor="ctr">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EEF2F4"/>
                    </a:solidFill>
                  </a:tcPr>
                </a:tc>
              </a:tr>
            </a:tbl>
          </a:graphicData>
        </a:graphic>
      </p:graphicFrame>
      <p:sp>
        <p:nvSpPr>
          <p:cNvPr id="5" name="Text 2"/>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6" name="Text 3"/>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TROUBLESHOOTING</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D9822B"/>
                </a:solidFill>
                <a:latin typeface="Calibri" pitchFamily="34" charset="0"/>
                <a:ea typeface="Calibri" pitchFamily="34" charset="-122"/>
                <a:cs typeface="Calibri" pitchFamily="34" charset="-120"/>
              </a:rPr>
              <a:t>COMMON MISTAKE</a:t>
            </a:r>
            <a:endParaRPr lang="en-US" sz="1300" dirty="0"/>
          </a:p>
        </p:txBody>
      </p:sp>
      <p:sp>
        <p:nvSpPr>
          <p:cNvPr id="3" name="Shape 1"/>
          <p:cNvSpPr/>
          <p:nvPr/>
        </p:nvSpPr>
        <p:spPr>
          <a:xfrm>
            <a:off x="10561320" y="457200"/>
            <a:ext cx="731520" cy="731520"/>
          </a:xfrm>
          <a:prstGeom prst="ellipse">
            <a:avLst/>
          </a:prstGeom>
          <a:solidFill>
            <a:srgbClr val="D9822B"/>
          </a:solidFill>
          <a:ln/>
        </p:spPr>
      </p:sp>
      <p:pic>
        <p:nvPicPr>
          <p:cNvPr id="4" name="Image 0" descr="/home/claude/soc_course/build/icons/warning_white.png">    </p:cNvPr>
          <p:cNvPicPr>
            <a:picLocks noChangeAspect="1"/>
          </p:cNvPicPr>
          <p:nvPr/>
        </p:nvPicPr>
        <p:blipFill>
          <a:blip r:embed="rId1"/>
          <a:stretch>
            <a:fillRect/>
          </a:stretch>
        </p:blipFill>
        <p:spPr>
          <a:xfrm>
            <a:off x="10736885" y="632765"/>
            <a:ext cx="380390" cy="380390"/>
          </a:xfrm>
          <a:prstGeom prst="rect">
            <a:avLst/>
          </a:prstGeom>
        </p:spPr>
      </p:pic>
      <p:sp>
        <p:nvSpPr>
          <p:cNvPr id="5" name="Shape 2"/>
          <p:cNvSpPr/>
          <p:nvPr/>
        </p:nvSpPr>
        <p:spPr>
          <a:xfrm>
            <a:off x="548640" y="1371600"/>
            <a:ext cx="11064240" cy="2240280"/>
          </a:xfrm>
          <a:prstGeom prst="roundRect">
            <a:avLst>
              <a:gd name="adj" fmla="val 3265"/>
            </a:avLst>
          </a:prstGeom>
          <a:solidFill>
            <a:srgbClr val="FBEBD8"/>
          </a:solidFill>
          <a:ln/>
        </p:spPr>
      </p:sp>
      <p:sp>
        <p:nvSpPr>
          <p:cNvPr id="6" name="Text 3"/>
          <p:cNvSpPr txBox="1"/>
          <p:nvPr/>
        </p:nvSpPr>
        <p:spPr>
          <a:xfrm>
            <a:off x="868680" y="1572768"/>
            <a:ext cx="5486400" cy="292608"/>
          </a:xfrm>
          <a:prstGeom prst="rect">
            <a:avLst/>
          </a:prstGeom>
          <a:noFill/>
          <a:ln/>
        </p:spPr>
        <p:txBody>
          <a:bodyPr wrap="square" lIns="0" tIns="0" rIns="0" bIns="0" rtlCol="0" anchor="ctr"/>
          <a:lstStyle/>
          <a:p>
            <a:pPr indent="0" marL="0">
              <a:buNone/>
            </a:pPr>
            <a:r>
              <a:rPr lang="en-US" sz="1250" b="1" dirty="0">
                <a:solidFill>
                  <a:srgbClr val="B4571A"/>
                </a:solidFill>
                <a:latin typeface="Calibri" pitchFamily="34" charset="0"/>
                <a:ea typeface="Calibri" pitchFamily="34" charset="-122"/>
                <a:cs typeface="Calibri" pitchFamily="34" charset="-120"/>
              </a:rPr>
              <a:t>✖  THE MISTAKE</a:t>
            </a:r>
            <a:endParaRPr lang="en-US" sz="1250" dirty="0"/>
          </a:p>
        </p:txBody>
      </p:sp>
      <p:sp>
        <p:nvSpPr>
          <p:cNvPr id="7" name="Text 4"/>
          <p:cNvSpPr txBox="1"/>
          <p:nvPr/>
        </p:nvSpPr>
        <p:spPr>
          <a:xfrm>
            <a:off x="868680" y="1920240"/>
            <a:ext cx="10424160" cy="1554480"/>
          </a:xfrm>
          <a:prstGeom prst="rect">
            <a:avLst/>
          </a:prstGeom>
          <a:noFill/>
          <a:ln/>
        </p:spPr>
        <p:txBody>
          <a:bodyPr wrap="square" lIns="0" tIns="0" rIns="0" bIns="0" rtlCol="0" anchor="t"/>
          <a:lstStyle/>
          <a:p>
            <a:pPr indent="0" marL="0">
              <a:lnSpc>
                <a:spcPct val="120000"/>
              </a:lnSpc>
              <a:buNone/>
            </a:pPr>
            <a:r>
              <a:rPr lang="en-US" sz="1650" dirty="0">
                <a:solidFill>
                  <a:srgbClr val="0F2540"/>
                </a:solidFill>
                <a:latin typeface="Calibri" pitchFamily="34" charset="0"/>
                <a:ea typeface="Calibri" pitchFamily="34" charset="-122"/>
                <a:cs typeface="Calibri" pitchFamily="34" charset="-120"/>
              </a:rPr>
              <a:t>Running the nmap scan first, then installing UFW and turning on logging afterwards (the order in the original handout), and then wondering why the log is empty.</a:t>
            </a:r>
            <a:endParaRPr lang="en-US" sz="1650" dirty="0"/>
          </a:p>
        </p:txBody>
      </p:sp>
      <p:sp>
        <p:nvSpPr>
          <p:cNvPr id="8" name="Shape 5"/>
          <p:cNvSpPr/>
          <p:nvPr/>
        </p:nvSpPr>
        <p:spPr>
          <a:xfrm>
            <a:off x="548640" y="3840480"/>
            <a:ext cx="11064240" cy="2240280"/>
          </a:xfrm>
          <a:prstGeom prst="roundRect">
            <a:avLst>
              <a:gd name="adj" fmla="val 3265"/>
            </a:avLst>
          </a:prstGeom>
          <a:solidFill>
            <a:srgbClr val="E4F0F1"/>
          </a:solidFill>
          <a:ln/>
        </p:spPr>
      </p:sp>
      <p:sp>
        <p:nvSpPr>
          <p:cNvPr id="9" name="Text 6"/>
          <p:cNvSpPr txBox="1"/>
          <p:nvPr/>
        </p:nvSpPr>
        <p:spPr>
          <a:xfrm>
            <a:off x="868680" y="4041648"/>
            <a:ext cx="5486400" cy="292608"/>
          </a:xfrm>
          <a:prstGeom prst="rect">
            <a:avLst/>
          </a:prstGeom>
          <a:noFill/>
          <a:ln/>
        </p:spPr>
        <p:txBody>
          <a:bodyPr wrap="square" lIns="0" tIns="0" rIns="0" bIns="0" rtlCol="0" anchor="ctr"/>
          <a:lstStyle/>
          <a:p>
            <a:pPr indent="0" marL="0">
              <a:buNone/>
            </a:pPr>
            <a:r>
              <a:rPr lang="en-US" sz="1250" b="1" dirty="0">
                <a:solidFill>
                  <a:srgbClr val="0B5F67"/>
                </a:solidFill>
                <a:latin typeface="Calibri" pitchFamily="34" charset="0"/>
                <a:ea typeface="Calibri" pitchFamily="34" charset="-122"/>
                <a:cs typeface="Calibri" pitchFamily="34" charset="-120"/>
              </a:rPr>
              <a:t>✓  THE REALITY</a:t>
            </a:r>
            <a:endParaRPr lang="en-US" sz="1250" dirty="0"/>
          </a:p>
        </p:txBody>
      </p:sp>
      <p:sp>
        <p:nvSpPr>
          <p:cNvPr id="10" name="Text 7"/>
          <p:cNvSpPr txBox="1"/>
          <p:nvPr/>
        </p:nvSpPr>
        <p:spPr>
          <a:xfrm>
            <a:off x="868680" y="4389120"/>
            <a:ext cx="10424160" cy="1554480"/>
          </a:xfrm>
          <a:prstGeom prst="rect">
            <a:avLst/>
          </a:prstGeom>
          <a:noFill/>
          <a:ln/>
        </p:spPr>
        <p:txBody>
          <a:bodyPr wrap="square" lIns="0" tIns="0" rIns="0" bIns="0" rtlCol="0" anchor="t"/>
          <a:lstStyle/>
          <a:p>
            <a:pPr indent="0" marL="0">
              <a:lnSpc>
                <a:spcPct val="120000"/>
              </a:lnSpc>
              <a:buNone/>
            </a:pPr>
            <a:r>
              <a:rPr lang="en-US" sz="1650" dirty="0">
                <a:solidFill>
                  <a:srgbClr val="0F2540"/>
                </a:solidFill>
                <a:latin typeface="Calibri" pitchFamily="34" charset="0"/>
                <a:ea typeface="Calibri" pitchFamily="34" charset="-122"/>
                <a:cs typeface="Calibri" pitchFamily="34" charset="-120"/>
              </a:rPr>
              <a:t>A firewall can only log traffic that arrives while it is running and logging. Turn logging on first, confirm it with ufw status verbose, then scan. Real SOCs have the same rule: you cannot investigate what was never collected.</a:t>
            </a:r>
            <a:endParaRPr lang="en-US" sz="1650" dirty="0"/>
          </a:p>
        </p:txBody>
      </p:sp>
      <p:sp>
        <p:nvSpPr>
          <p:cNvPr id="11" name="Text 8"/>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12" name="Text 9"/>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COMMON MISTAKE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KNOWLEDGE CHECK — LAB</a:t>
            </a:r>
            <a:endParaRPr lang="en-US" sz="1300" dirty="0"/>
          </a:p>
        </p:txBody>
      </p:sp>
      <p:sp>
        <p:nvSpPr>
          <p:cNvPr id="3" name="Shape 1"/>
          <p:cNvSpPr/>
          <p:nvPr/>
        </p:nvSpPr>
        <p:spPr>
          <a:xfrm>
            <a:off x="10561320" y="457200"/>
            <a:ext cx="731520" cy="731520"/>
          </a:xfrm>
          <a:prstGeom prst="ellipse">
            <a:avLst/>
          </a:prstGeom>
          <a:solidFill>
            <a:srgbClr val="0E7C86"/>
          </a:solidFill>
          <a:ln/>
        </p:spPr>
      </p:sp>
      <p:pic>
        <p:nvPicPr>
          <p:cNvPr id="4" name="Image 0" descr="/home/claude/soc_course/build/icons/qmark_white.png">    </p:cNvPr>
          <p:cNvPicPr>
            <a:picLocks noChangeAspect="1"/>
          </p:cNvPicPr>
          <p:nvPr/>
        </p:nvPicPr>
        <p:blipFill>
          <a:blip r:embed="rId1"/>
          <a:stretch>
            <a:fillRect/>
          </a:stretch>
        </p:blipFill>
        <p:spPr>
          <a:xfrm>
            <a:off x="10736885" y="632765"/>
            <a:ext cx="380390" cy="380390"/>
          </a:xfrm>
          <a:prstGeom prst="rect">
            <a:avLst/>
          </a:prstGeom>
        </p:spPr>
      </p:pic>
      <p:sp>
        <p:nvSpPr>
          <p:cNvPr id="5" name="Text 2"/>
          <p:cNvSpPr txBox="1"/>
          <p:nvPr/>
        </p:nvSpPr>
        <p:spPr>
          <a:xfrm>
            <a:off x="502920" y="658368"/>
            <a:ext cx="11155680" cy="502920"/>
          </a:xfrm>
          <a:prstGeom prst="rect">
            <a:avLst/>
          </a:prstGeom>
          <a:noFill/>
          <a:ln/>
        </p:spPr>
        <p:txBody>
          <a:bodyPr wrap="square" lIns="0" tIns="0" rIns="0" bIns="0" rtlCol="0" anchor="t"/>
          <a:lstStyle/>
          <a:p>
            <a:pPr indent="0" marL="0">
              <a:buNone/>
            </a:pPr>
            <a:r>
              <a:rPr lang="en-US" sz="2400" b="1" dirty="0">
                <a:solidFill>
                  <a:srgbClr val="0F2540"/>
                </a:solidFill>
                <a:latin typeface="Cambria" pitchFamily="34" charset="0"/>
                <a:ea typeface="Cambria" pitchFamily="34" charset="-122"/>
                <a:cs typeface="Cambria" pitchFamily="34" charset="-120"/>
              </a:rPr>
              <a:t>Check Your Understanding</a:t>
            </a:r>
            <a:endParaRPr lang="en-US" sz="2400" dirty="0"/>
          </a:p>
        </p:txBody>
      </p:sp>
      <p:sp>
        <p:nvSpPr>
          <p:cNvPr id="6" name="Shape 3"/>
          <p:cNvSpPr/>
          <p:nvPr/>
        </p:nvSpPr>
        <p:spPr>
          <a:xfrm>
            <a:off x="548640" y="1463040"/>
            <a:ext cx="11064240" cy="1566672"/>
          </a:xfrm>
          <a:prstGeom prst="roundRect">
            <a:avLst>
              <a:gd name="adj" fmla="val 4086"/>
            </a:avLst>
          </a:prstGeom>
          <a:solidFill>
            <a:srgbClr val="EEF2F4"/>
          </a:solidFill>
          <a:ln/>
        </p:spPr>
      </p:sp>
      <p:sp>
        <p:nvSpPr>
          <p:cNvPr id="7" name="Text 4"/>
          <p:cNvSpPr txBox="1"/>
          <p:nvPr/>
        </p:nvSpPr>
        <p:spPr>
          <a:xfrm>
            <a:off x="777240" y="1554480"/>
            <a:ext cx="10607040" cy="658002"/>
          </a:xfrm>
          <a:prstGeom prst="rect">
            <a:avLst/>
          </a:prstGeom>
          <a:noFill/>
          <a:ln/>
        </p:spPr>
        <p:txBody>
          <a:bodyPr wrap="square" lIns="0" tIns="0" rIns="0" bIns="0" rtlCol="0" anchor="t"/>
          <a:lstStyle/>
          <a:p>
            <a:pPr indent="0" marL="0">
              <a:lnSpc>
                <a:spcPct val="110000"/>
              </a:lnSpc>
              <a:buNone/>
            </a:pPr>
            <a:r>
              <a:rPr lang="en-US" sz="1350" b="1" dirty="0">
                <a:solidFill>
                  <a:srgbClr val="0F2540"/>
                </a:solidFill>
                <a:latin typeface="Calibri" pitchFamily="34" charset="0"/>
                <a:ea typeface="Calibri" pitchFamily="34" charset="-122"/>
                <a:cs typeface="Calibri" pitchFamily="34" charset="-120"/>
              </a:rPr>
              <a:t>Q1.  </a:t>
            </a:r>
            <a:pPr indent="0" marL="0">
              <a:lnSpc>
                <a:spcPct val="110000"/>
              </a:lnSpc>
              <a:buNone/>
            </a:pPr>
            <a:r>
              <a:rPr lang="en-US" sz="1350" b="1" dirty="0">
                <a:solidFill>
                  <a:srgbClr val="0F2540"/>
                </a:solidFill>
                <a:latin typeface="Calibri" pitchFamily="34" charset="0"/>
                <a:ea typeface="Calibri" pitchFamily="34" charset="-122"/>
                <a:cs typeface="Calibri" pitchFamily="34" charset="-120"/>
              </a:rPr>
              <a:t>Why does nmap report port 80 as "filtered" after your ufw deny rule?</a:t>
            </a:r>
            <a:endParaRPr lang="en-US" sz="1350" dirty="0"/>
          </a:p>
        </p:txBody>
      </p:sp>
      <p:sp>
        <p:nvSpPr>
          <p:cNvPr id="8" name="Shape 5"/>
          <p:cNvSpPr/>
          <p:nvPr/>
        </p:nvSpPr>
        <p:spPr>
          <a:xfrm>
            <a:off x="777240" y="2246376"/>
            <a:ext cx="10607040" cy="0"/>
          </a:xfrm>
          <a:prstGeom prst="line">
            <a:avLst/>
          </a:prstGeom>
          <a:noFill/>
          <a:ln w="9525">
            <a:solidFill>
              <a:srgbClr val="C7CFD5"/>
            </a:solidFill>
            <a:prstDash val="dash"/>
          </a:ln>
        </p:spPr>
      </p:sp>
      <p:sp>
        <p:nvSpPr>
          <p:cNvPr id="9" name="Text 6"/>
          <p:cNvSpPr txBox="1"/>
          <p:nvPr/>
        </p:nvSpPr>
        <p:spPr>
          <a:xfrm>
            <a:off x="777240" y="2309043"/>
            <a:ext cx="10607040" cy="658002"/>
          </a:xfrm>
          <a:prstGeom prst="rect">
            <a:avLst/>
          </a:prstGeom>
          <a:noFill/>
          <a:ln/>
        </p:spPr>
        <p:txBody>
          <a:bodyPr wrap="square" lIns="0" tIns="0" rIns="0" bIns="0" rtlCol="0" anchor="t"/>
          <a:lstStyle/>
          <a:p>
            <a:pPr indent="0" marL="0">
              <a:lnSpc>
                <a:spcPct val="110000"/>
              </a:lnSpc>
              <a:buNone/>
            </a:pPr>
            <a:r>
              <a:rPr lang="en-US" sz="1250" b="1" i="1" dirty="0">
                <a:solidFill>
                  <a:srgbClr val="0E7C86"/>
                </a:solidFill>
                <a:latin typeface="Calibri" pitchFamily="34" charset="0"/>
                <a:ea typeface="Calibri" pitchFamily="34" charset="-122"/>
                <a:cs typeface="Calibri" pitchFamily="34" charset="-120"/>
              </a:rPr>
              <a:t>A:  </a:t>
            </a:r>
            <a:pPr indent="0" marL="0">
              <a:lnSpc>
                <a:spcPct val="110000"/>
              </a:lnSpc>
              <a:buNone/>
            </a:pPr>
            <a:r>
              <a:rPr lang="en-US" sz="1250" i="1" dirty="0">
                <a:solidFill>
                  <a:srgbClr val="1A2733"/>
                </a:solidFill>
                <a:latin typeface="Calibri" pitchFamily="34" charset="0"/>
                <a:ea typeface="Calibri" pitchFamily="34" charset="-122"/>
                <a:cs typeface="Calibri" pitchFamily="34" charset="-120"/>
              </a:rPr>
              <a:t>The rule drops the SYN silently. With no SYN/ACK and no RST, nmap cannot tell, so it reports filtered. A reject would send a reset and show closed.</a:t>
            </a:r>
            <a:endParaRPr lang="en-US" sz="1250" dirty="0"/>
          </a:p>
        </p:txBody>
      </p:sp>
      <p:sp>
        <p:nvSpPr>
          <p:cNvPr id="10" name="Shape 7"/>
          <p:cNvSpPr/>
          <p:nvPr/>
        </p:nvSpPr>
        <p:spPr>
          <a:xfrm>
            <a:off x="548640" y="3194304"/>
            <a:ext cx="11064240" cy="1566672"/>
          </a:xfrm>
          <a:prstGeom prst="roundRect">
            <a:avLst>
              <a:gd name="adj" fmla="val 4086"/>
            </a:avLst>
          </a:prstGeom>
          <a:solidFill>
            <a:srgbClr val="EEF2F4"/>
          </a:solidFill>
          <a:ln/>
        </p:spPr>
      </p:sp>
      <p:sp>
        <p:nvSpPr>
          <p:cNvPr id="11" name="Text 8"/>
          <p:cNvSpPr txBox="1"/>
          <p:nvPr/>
        </p:nvSpPr>
        <p:spPr>
          <a:xfrm>
            <a:off x="777240" y="3285744"/>
            <a:ext cx="10607040" cy="658002"/>
          </a:xfrm>
          <a:prstGeom prst="rect">
            <a:avLst/>
          </a:prstGeom>
          <a:noFill/>
          <a:ln/>
        </p:spPr>
        <p:txBody>
          <a:bodyPr wrap="square" lIns="0" tIns="0" rIns="0" bIns="0" rtlCol="0" anchor="t"/>
          <a:lstStyle/>
          <a:p>
            <a:pPr indent="0" marL="0">
              <a:lnSpc>
                <a:spcPct val="110000"/>
              </a:lnSpc>
              <a:buNone/>
            </a:pPr>
            <a:r>
              <a:rPr lang="en-US" sz="1350" b="1" dirty="0">
                <a:solidFill>
                  <a:srgbClr val="0F2540"/>
                </a:solidFill>
                <a:latin typeface="Calibri" pitchFamily="34" charset="0"/>
                <a:ea typeface="Calibri" pitchFamily="34" charset="-122"/>
                <a:cs typeface="Calibri" pitchFamily="34" charset="-120"/>
              </a:rPr>
              <a:t>Q2.  </a:t>
            </a:r>
            <a:pPr indent="0" marL="0">
              <a:lnSpc>
                <a:spcPct val="110000"/>
              </a:lnSpc>
              <a:buNone/>
            </a:pPr>
            <a:r>
              <a:rPr lang="en-US" sz="1350" b="1" dirty="0">
                <a:solidFill>
                  <a:srgbClr val="0F2540"/>
                </a:solidFill>
                <a:latin typeface="Calibri" pitchFamily="34" charset="0"/>
                <a:ea typeface="Calibri" pitchFamily="34" charset="-122"/>
                <a:cs typeface="Calibri" pitchFamily="34" charset="-120"/>
              </a:rPr>
              <a:t>Which three details from the log line make up your evidence?</a:t>
            </a:r>
            <a:endParaRPr lang="en-US" sz="1350" dirty="0"/>
          </a:p>
        </p:txBody>
      </p:sp>
      <p:sp>
        <p:nvSpPr>
          <p:cNvPr id="12" name="Shape 9"/>
          <p:cNvSpPr/>
          <p:nvPr/>
        </p:nvSpPr>
        <p:spPr>
          <a:xfrm>
            <a:off x="777240" y="3977640"/>
            <a:ext cx="10607040" cy="0"/>
          </a:xfrm>
          <a:prstGeom prst="line">
            <a:avLst/>
          </a:prstGeom>
          <a:noFill/>
          <a:ln w="9525">
            <a:solidFill>
              <a:srgbClr val="C7CFD5"/>
            </a:solidFill>
            <a:prstDash val="dash"/>
          </a:ln>
        </p:spPr>
      </p:sp>
      <p:sp>
        <p:nvSpPr>
          <p:cNvPr id="13" name="Text 10"/>
          <p:cNvSpPr txBox="1"/>
          <p:nvPr/>
        </p:nvSpPr>
        <p:spPr>
          <a:xfrm>
            <a:off x="777240" y="4040307"/>
            <a:ext cx="10607040" cy="658002"/>
          </a:xfrm>
          <a:prstGeom prst="rect">
            <a:avLst/>
          </a:prstGeom>
          <a:noFill/>
          <a:ln/>
        </p:spPr>
        <p:txBody>
          <a:bodyPr wrap="square" lIns="0" tIns="0" rIns="0" bIns="0" rtlCol="0" anchor="t"/>
          <a:lstStyle/>
          <a:p>
            <a:pPr indent="0" marL="0">
              <a:lnSpc>
                <a:spcPct val="110000"/>
              </a:lnSpc>
              <a:buNone/>
            </a:pPr>
            <a:r>
              <a:rPr lang="en-US" sz="1250" b="1" i="1" dirty="0">
                <a:solidFill>
                  <a:srgbClr val="0E7C86"/>
                </a:solidFill>
                <a:latin typeface="Calibri" pitchFamily="34" charset="0"/>
                <a:ea typeface="Calibri" pitchFamily="34" charset="-122"/>
                <a:cs typeface="Calibri" pitchFamily="34" charset="-120"/>
              </a:rPr>
              <a:t>A:  </a:t>
            </a:r>
            <a:pPr indent="0" marL="0">
              <a:lnSpc>
                <a:spcPct val="110000"/>
              </a:lnSpc>
              <a:buNone/>
            </a:pPr>
            <a:r>
              <a:rPr lang="en-US" sz="1250" i="1" dirty="0">
                <a:solidFill>
                  <a:srgbClr val="1A2733"/>
                </a:solidFill>
                <a:latin typeface="Calibri" pitchFamily="34" charset="0"/>
                <a:ea typeface="Calibri" pitchFamily="34" charset="-122"/>
                <a:cs typeface="Calibri" pitchFamily="34" charset="-120"/>
              </a:rPr>
              <a:t>The source IP (SRC=), the targeted port (DPT=), and the timestamp at the start of the line.</a:t>
            </a:r>
            <a:endParaRPr lang="en-US" sz="1250" dirty="0"/>
          </a:p>
        </p:txBody>
      </p:sp>
      <p:sp>
        <p:nvSpPr>
          <p:cNvPr id="14" name="Shape 11"/>
          <p:cNvSpPr/>
          <p:nvPr/>
        </p:nvSpPr>
        <p:spPr>
          <a:xfrm>
            <a:off x="548640" y="4925568"/>
            <a:ext cx="11064240" cy="1566672"/>
          </a:xfrm>
          <a:prstGeom prst="roundRect">
            <a:avLst>
              <a:gd name="adj" fmla="val 4086"/>
            </a:avLst>
          </a:prstGeom>
          <a:solidFill>
            <a:srgbClr val="EEF2F4"/>
          </a:solidFill>
          <a:ln/>
        </p:spPr>
      </p:sp>
      <p:sp>
        <p:nvSpPr>
          <p:cNvPr id="15" name="Text 12"/>
          <p:cNvSpPr txBox="1"/>
          <p:nvPr/>
        </p:nvSpPr>
        <p:spPr>
          <a:xfrm>
            <a:off x="777240" y="5017008"/>
            <a:ext cx="10607040" cy="658002"/>
          </a:xfrm>
          <a:prstGeom prst="rect">
            <a:avLst/>
          </a:prstGeom>
          <a:noFill/>
          <a:ln/>
        </p:spPr>
        <p:txBody>
          <a:bodyPr wrap="square" lIns="0" tIns="0" rIns="0" bIns="0" rtlCol="0" anchor="t"/>
          <a:lstStyle/>
          <a:p>
            <a:pPr indent="0" marL="0">
              <a:lnSpc>
                <a:spcPct val="110000"/>
              </a:lnSpc>
              <a:buNone/>
            </a:pPr>
            <a:r>
              <a:rPr lang="en-US" sz="1350" b="1" dirty="0">
                <a:solidFill>
                  <a:srgbClr val="0F2540"/>
                </a:solidFill>
                <a:latin typeface="Calibri" pitchFamily="34" charset="0"/>
                <a:ea typeface="Calibri" pitchFamily="34" charset="-122"/>
                <a:cs typeface="Calibri" pitchFamily="34" charset="-120"/>
              </a:rPr>
              <a:t>Q3.  </a:t>
            </a:r>
            <a:pPr indent="0" marL="0">
              <a:lnSpc>
                <a:spcPct val="110000"/>
              </a:lnSpc>
              <a:buNone/>
            </a:pPr>
            <a:r>
              <a:rPr lang="en-US" sz="1350" b="1" dirty="0">
                <a:solidFill>
                  <a:srgbClr val="0F2540"/>
                </a:solidFill>
                <a:latin typeface="Calibri" pitchFamily="34" charset="0"/>
                <a:ea typeface="Calibri" pitchFamily="34" charset="-122"/>
                <a:cs typeface="Calibri" pitchFamily="34" charset="-120"/>
              </a:rPr>
              <a:t>One source IP appears with many different DPT values within seconds. What does that suggest, and what Wireshark filter would show the same probes?</a:t>
            </a:r>
            <a:endParaRPr lang="en-US" sz="1350" dirty="0"/>
          </a:p>
        </p:txBody>
      </p:sp>
      <p:sp>
        <p:nvSpPr>
          <p:cNvPr id="16" name="Shape 13"/>
          <p:cNvSpPr/>
          <p:nvPr/>
        </p:nvSpPr>
        <p:spPr>
          <a:xfrm>
            <a:off x="777240" y="5708904"/>
            <a:ext cx="10607040" cy="0"/>
          </a:xfrm>
          <a:prstGeom prst="line">
            <a:avLst/>
          </a:prstGeom>
          <a:noFill/>
          <a:ln w="9525">
            <a:solidFill>
              <a:srgbClr val="C7CFD5"/>
            </a:solidFill>
            <a:prstDash val="dash"/>
          </a:ln>
        </p:spPr>
      </p:sp>
      <p:sp>
        <p:nvSpPr>
          <p:cNvPr id="17" name="Text 14"/>
          <p:cNvSpPr txBox="1"/>
          <p:nvPr/>
        </p:nvSpPr>
        <p:spPr>
          <a:xfrm>
            <a:off x="777240" y="5771571"/>
            <a:ext cx="10607040" cy="658002"/>
          </a:xfrm>
          <a:prstGeom prst="rect">
            <a:avLst/>
          </a:prstGeom>
          <a:noFill/>
          <a:ln/>
        </p:spPr>
        <p:txBody>
          <a:bodyPr wrap="square" lIns="0" tIns="0" rIns="0" bIns="0" rtlCol="0" anchor="t"/>
          <a:lstStyle/>
          <a:p>
            <a:pPr indent="0" marL="0">
              <a:lnSpc>
                <a:spcPct val="110000"/>
              </a:lnSpc>
              <a:buNone/>
            </a:pPr>
            <a:r>
              <a:rPr lang="en-US" sz="1250" b="1" i="1" dirty="0">
                <a:solidFill>
                  <a:srgbClr val="0E7C86"/>
                </a:solidFill>
                <a:latin typeface="Calibri" pitchFamily="34" charset="0"/>
                <a:ea typeface="Calibri" pitchFamily="34" charset="-122"/>
                <a:cs typeface="Calibri" pitchFamily="34" charset="-120"/>
              </a:rPr>
              <a:t>A:  </a:t>
            </a:r>
            <a:pPr indent="0" marL="0">
              <a:lnSpc>
                <a:spcPct val="110000"/>
              </a:lnSpc>
              <a:buNone/>
            </a:pPr>
            <a:r>
              <a:rPr lang="en-US" sz="1250" i="1" dirty="0">
                <a:solidFill>
                  <a:srgbClr val="1A2733"/>
                </a:solidFill>
                <a:latin typeface="Calibri" pitchFamily="34" charset="0"/>
                <a:ea typeface="Calibri" pitchFamily="34" charset="-122"/>
                <a:cs typeface="Calibri" pitchFamily="34" charset="-120"/>
              </a:rPr>
              <a:t>A port scan. tcp.flags.syn==1 &amp;&amp; tcp.flags.ack==0 isolates the bare SYNs.</a:t>
            </a:r>
            <a:endParaRPr lang="en-US" sz="1250" dirty="0"/>
          </a:p>
        </p:txBody>
      </p:sp>
      <p:sp>
        <p:nvSpPr>
          <p:cNvPr id="18" name="Text 15"/>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19" name="Text 16"/>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LAB</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TAKEAWAYS</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What a Defender Learns From This</a:t>
            </a:r>
            <a:endParaRPr lang="en-US" sz="2800" dirty="0"/>
          </a:p>
        </p:txBody>
      </p:sp>
      <p:sp>
        <p:nvSpPr>
          <p:cNvPr id="4" name="Shape 2"/>
          <p:cNvSpPr/>
          <p:nvPr/>
        </p:nvSpPr>
        <p:spPr>
          <a:xfrm>
            <a:off x="10561320" y="502920"/>
            <a:ext cx="685800" cy="685800"/>
          </a:xfrm>
          <a:prstGeom prst="ellipse">
            <a:avLst/>
          </a:prstGeom>
          <a:solidFill>
            <a:srgbClr val="0E7C86"/>
          </a:solidFill>
          <a:ln/>
        </p:spPr>
      </p:sp>
      <p:pic>
        <p:nvPicPr>
          <p:cNvPr id="5" name="Image 0" descr="/home/claude/soc_course/build/icons/shield_white.png">    </p:cNvPr>
          <p:cNvPicPr>
            <a:picLocks noChangeAspect="1"/>
          </p:cNvPicPr>
          <p:nvPr/>
        </p:nvPicPr>
        <p:blipFill>
          <a:blip r:embed="rId1"/>
          <a:stretch>
            <a:fillRect/>
          </a:stretch>
        </p:blipFill>
        <p:spPr>
          <a:xfrm>
            <a:off x="10725912" y="667512"/>
            <a:ext cx="356616" cy="356616"/>
          </a:xfrm>
          <a:prstGeom prst="rect">
            <a:avLst/>
          </a:prstGeom>
        </p:spPr>
      </p:pic>
      <p:sp>
        <p:nvSpPr>
          <p:cNvPr id="6" name="Text 3"/>
          <p:cNvSpPr txBox="1"/>
          <p:nvPr/>
        </p:nvSpPr>
        <p:spPr>
          <a:xfrm>
            <a:off x="548640" y="1600200"/>
            <a:ext cx="11064240" cy="46634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1A2733"/>
                </a:solidFill>
                <a:latin typeface="Calibri" pitchFamily="34" charset="0"/>
                <a:ea typeface="Calibri" pitchFamily="34" charset="-122"/>
                <a:cs typeface="Calibri" pitchFamily="34" charset="-120"/>
              </a:rPr>
              <a:t>Firewall logs are a cheap, powerful way to catch early-stage reconnaissance: one source, many ports, a bare SYN.</a:t>
            </a:r>
            <a:endParaRPr lang="en-US" sz="1700" dirty="0"/>
          </a:p>
          <a:p>
            <a:pPr marL="228600" indent="-228600">
              <a:lnSpc>
                <a:spcPct val="115000"/>
              </a:lnSpc>
              <a:spcAft>
                <a:spcPts val="1400"/>
              </a:spcAft>
              <a:buSzPct val="100000"/>
              <a:buChar char="▪"/>
            </a:pPr>
            <a:r>
              <a:rPr lang="en-US" sz="1700" dirty="0">
                <a:solidFill>
                  <a:srgbClr val="1A2733"/>
                </a:solidFill>
                <a:latin typeface="Calibri" pitchFamily="34" charset="0"/>
                <a:ea typeface="Calibri" pitchFamily="34" charset="-122"/>
                <a:cs typeface="Calibri" pitchFamily="34" charset="-120"/>
              </a:rPr>
              <a:t>Detection depends on collection: logging has to be on before the event, and blocked-and-logged beats blocked-and-silent.</a:t>
            </a:r>
            <a:endParaRPr lang="en-US" sz="1700" dirty="0"/>
          </a:p>
          <a:p>
            <a:pPr marL="228600" indent="-228600">
              <a:lnSpc>
                <a:spcPct val="115000"/>
              </a:lnSpc>
              <a:spcAft>
                <a:spcPts val="1400"/>
              </a:spcAft>
              <a:buSzPct val="100000"/>
              <a:buChar char="▪"/>
            </a:pPr>
            <a:r>
              <a:rPr lang="en-US" sz="1700" dirty="0">
                <a:solidFill>
                  <a:srgbClr val="1A2733"/>
                </a:solidFill>
                <a:latin typeface="Calibri" pitchFamily="34" charset="0"/>
                <a:ea typeface="Calibri" pitchFamily="34" charset="-122"/>
                <a:cs typeface="Calibri" pitchFamily="34" charset="-120"/>
              </a:rPr>
              <a:t>A host log only sees traffic that reached that host. Network tools see more: Wireshark for packets, NetFlow for one source touching many ports, Suricata for alerts on scan patterns.</a:t>
            </a:r>
            <a:endParaRPr lang="en-US" sz="1700" dirty="0"/>
          </a:p>
          <a:p>
            <a:pPr marL="228600" indent="-228600">
              <a:lnSpc>
                <a:spcPct val="115000"/>
              </a:lnSpc>
              <a:spcAft>
                <a:spcPts val="1400"/>
              </a:spcAft>
              <a:buSzPct val="100000"/>
              <a:buChar char="▪"/>
            </a:pPr>
            <a:r>
              <a:rPr lang="en-US" sz="1700" dirty="0">
                <a:solidFill>
                  <a:srgbClr val="1A2733"/>
                </a:solidFill>
                <a:latin typeface="Calibri" pitchFamily="34" charset="0"/>
                <a:ea typeface="Calibri" pitchFamily="34" charset="-122"/>
                <a:cs typeface="Calibri" pitchFamily="34" charset="-120"/>
              </a:rPr>
              <a:t>At scale, these logs go to a SIEM so an analyst can search and alert across every machine — you will build that later in the course.</a:t>
            </a:r>
            <a:endParaRPr lang="en-US" sz="1700" dirty="0"/>
          </a:p>
          <a:p>
            <a:pPr marL="228600" indent="-228600">
              <a:lnSpc>
                <a:spcPct val="115000"/>
              </a:lnSpc>
              <a:spcAft>
                <a:spcPts val="1400"/>
              </a:spcAft>
              <a:buSzPct val="100000"/>
              <a:buChar char="▪"/>
            </a:pPr>
            <a:r>
              <a:rPr lang="en-US" sz="1700" dirty="0">
                <a:solidFill>
                  <a:srgbClr val="1A2733"/>
                </a:solidFill>
                <a:latin typeface="Calibri" pitchFamily="34" charset="0"/>
                <a:ea typeface="Calibri" pitchFamily="34" charset="-122"/>
                <a:cs typeface="Calibri" pitchFamily="34" charset="-120"/>
              </a:rPr>
              <a:t>Blocking one scanner is good practice, but treat the scan as an early warning: who else did this IP touch?</a:t>
            </a:r>
            <a:endParaRPr lang="en-US" sz="1700" dirty="0"/>
          </a:p>
        </p:txBody>
      </p:sp>
      <p:sp>
        <p:nvSpPr>
          <p:cNvPr id="7" name="Text 4"/>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8" name="Text 5"/>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WRAP-UP</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65760"/>
            <a:ext cx="10515600" cy="292608"/>
          </a:xfrm>
          <a:prstGeom prst="rect">
            <a:avLst/>
          </a:prstGeom>
          <a:noFill/>
          <a:ln/>
        </p:spPr>
        <p:txBody>
          <a:bodyPr wrap="square" lIns="0" tIns="0" rIns="0" bIns="0" rtlCol="0" anchor="ctr"/>
          <a:lstStyle/>
          <a:p>
            <a:pPr indent="0" marL="0">
              <a:buNone/>
            </a:pPr>
            <a:r>
              <a:rPr lang="en-US" sz="1300" b="1" spc="100" kern="0" dirty="0">
                <a:solidFill>
                  <a:srgbClr val="0E7C86"/>
                </a:solidFill>
                <a:latin typeface="Calibri" pitchFamily="34" charset="0"/>
                <a:ea typeface="Calibri" pitchFamily="34" charset="-122"/>
                <a:cs typeface="Calibri" pitchFamily="34" charset="-120"/>
              </a:rPr>
              <a:t>CLEAN UP</a:t>
            </a:r>
            <a:endParaRPr lang="en-US" sz="1300" dirty="0"/>
          </a:p>
        </p:txBody>
      </p:sp>
      <p:sp>
        <p:nvSpPr>
          <p:cNvPr id="3" name="Text 1"/>
          <p:cNvSpPr txBox="1"/>
          <p:nvPr/>
        </p:nvSpPr>
        <p:spPr>
          <a:xfrm>
            <a:off x="502920" y="658368"/>
            <a:ext cx="11155680" cy="777240"/>
          </a:xfrm>
          <a:prstGeom prst="rect">
            <a:avLst/>
          </a:prstGeom>
          <a:noFill/>
          <a:ln/>
        </p:spPr>
        <p:txBody>
          <a:bodyPr wrap="square" lIns="0" tIns="0" rIns="0" bIns="0" rtlCol="0" anchor="t"/>
          <a:lstStyle/>
          <a:p>
            <a:pPr indent="0" marL="0">
              <a:buNone/>
            </a:pPr>
            <a:r>
              <a:rPr lang="en-US" sz="2800" b="1" dirty="0">
                <a:solidFill>
                  <a:srgbClr val="0F2540"/>
                </a:solidFill>
                <a:latin typeface="Cambria" pitchFamily="34" charset="0"/>
                <a:ea typeface="Cambria" pitchFamily="34" charset="-122"/>
                <a:cs typeface="Cambria" pitchFamily="34" charset="-120"/>
              </a:rPr>
              <a:t>Clean Up and Stay in Scope</a:t>
            </a:r>
            <a:endParaRPr lang="en-US" sz="2800" dirty="0"/>
          </a:p>
        </p:txBody>
      </p:sp>
      <p:sp>
        <p:nvSpPr>
          <p:cNvPr id="4" name="Shape 2"/>
          <p:cNvSpPr/>
          <p:nvPr/>
        </p:nvSpPr>
        <p:spPr>
          <a:xfrm>
            <a:off x="548640" y="1554480"/>
            <a:ext cx="5394960" cy="4663440"/>
          </a:xfrm>
          <a:prstGeom prst="roundRect">
            <a:avLst>
              <a:gd name="adj" fmla="val 1569"/>
            </a:avLst>
          </a:prstGeom>
          <a:solidFill>
            <a:srgbClr val="EEF2F4"/>
          </a:solidFill>
          <a:ln/>
        </p:spPr>
      </p:sp>
      <p:sp>
        <p:nvSpPr>
          <p:cNvPr id="5" name="Shape 3"/>
          <p:cNvSpPr/>
          <p:nvPr/>
        </p:nvSpPr>
        <p:spPr>
          <a:xfrm>
            <a:off x="777240" y="1691640"/>
            <a:ext cx="457200" cy="457200"/>
          </a:xfrm>
          <a:prstGeom prst="ellipse">
            <a:avLst/>
          </a:prstGeom>
          <a:solidFill>
            <a:srgbClr val="0E7C86"/>
          </a:solidFill>
          <a:ln/>
        </p:spPr>
      </p:sp>
      <p:pic>
        <p:nvPicPr>
          <p:cNvPr id="6" name="Image 0" descr="/home/claude/soc_course/build/icons/check_white.png">    </p:cNvPr>
          <p:cNvPicPr>
            <a:picLocks noChangeAspect="1"/>
          </p:cNvPicPr>
          <p:nvPr/>
        </p:nvPicPr>
        <p:blipFill>
          <a:blip r:embed="rId1"/>
          <a:stretch>
            <a:fillRect/>
          </a:stretch>
        </p:blipFill>
        <p:spPr>
          <a:xfrm>
            <a:off x="886968" y="1801368"/>
            <a:ext cx="237744" cy="237744"/>
          </a:xfrm>
          <a:prstGeom prst="rect">
            <a:avLst/>
          </a:prstGeom>
        </p:spPr>
      </p:pic>
      <p:sp>
        <p:nvSpPr>
          <p:cNvPr id="7" name="Text 4"/>
          <p:cNvSpPr txBox="1"/>
          <p:nvPr/>
        </p:nvSpPr>
        <p:spPr>
          <a:xfrm>
            <a:off x="1371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Clean up</a:t>
            </a:r>
            <a:endParaRPr lang="en-US" sz="1600" dirty="0"/>
          </a:p>
        </p:txBody>
      </p:sp>
      <p:sp>
        <p:nvSpPr>
          <p:cNvPr id="8" name="Text 5"/>
          <p:cNvSpPr txBox="1"/>
          <p:nvPr/>
        </p:nvSpPr>
        <p:spPr>
          <a:xfrm>
            <a:off x="822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sudo ufw status numbered, then sudo ufw delete N to remove your deny rule.</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Optional: sudo ufw logging off or sudo ufw disable to return the VM to normal.</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Keep your screenshot and command history as lab notes.</a:t>
            </a:r>
            <a:endParaRPr lang="en-US" sz="1550" dirty="0"/>
          </a:p>
        </p:txBody>
      </p:sp>
      <p:sp>
        <p:nvSpPr>
          <p:cNvPr id="9" name="Shape 6"/>
          <p:cNvSpPr/>
          <p:nvPr/>
        </p:nvSpPr>
        <p:spPr>
          <a:xfrm>
            <a:off x="6263640" y="1554480"/>
            <a:ext cx="5394960" cy="4663440"/>
          </a:xfrm>
          <a:prstGeom prst="roundRect">
            <a:avLst>
              <a:gd name="adj" fmla="val 1569"/>
            </a:avLst>
          </a:prstGeom>
          <a:solidFill>
            <a:srgbClr val="EEF2F4"/>
          </a:solidFill>
          <a:ln/>
        </p:spPr>
      </p:sp>
      <p:sp>
        <p:nvSpPr>
          <p:cNvPr id="10" name="Shape 7"/>
          <p:cNvSpPr/>
          <p:nvPr/>
        </p:nvSpPr>
        <p:spPr>
          <a:xfrm>
            <a:off x="6492240" y="1691640"/>
            <a:ext cx="457200" cy="457200"/>
          </a:xfrm>
          <a:prstGeom prst="ellipse">
            <a:avLst/>
          </a:prstGeom>
          <a:solidFill>
            <a:srgbClr val="D9822B"/>
          </a:solidFill>
          <a:ln/>
        </p:spPr>
      </p:sp>
      <p:pic>
        <p:nvPicPr>
          <p:cNvPr id="11" name="Image 1" descr="/home/claude/soc_course/build/icons/lock_white.png">    </p:cNvPr>
          <p:cNvPicPr>
            <a:picLocks noChangeAspect="1"/>
          </p:cNvPicPr>
          <p:nvPr/>
        </p:nvPicPr>
        <p:blipFill>
          <a:blip r:embed="rId2"/>
          <a:stretch>
            <a:fillRect/>
          </a:stretch>
        </p:blipFill>
        <p:spPr>
          <a:xfrm>
            <a:off x="6601968" y="1801368"/>
            <a:ext cx="237744" cy="237744"/>
          </a:xfrm>
          <a:prstGeom prst="rect">
            <a:avLst/>
          </a:prstGeom>
        </p:spPr>
      </p:pic>
      <p:sp>
        <p:nvSpPr>
          <p:cNvPr id="12" name="Text 8"/>
          <p:cNvSpPr txBox="1"/>
          <p:nvPr/>
        </p:nvSpPr>
        <p:spPr>
          <a:xfrm>
            <a:off x="7086600" y="1691640"/>
            <a:ext cx="4389120" cy="457200"/>
          </a:xfrm>
          <a:prstGeom prst="rect">
            <a:avLst/>
          </a:prstGeom>
          <a:noFill/>
          <a:ln/>
        </p:spPr>
        <p:txBody>
          <a:bodyPr wrap="square" lIns="0" tIns="0" rIns="0" bIns="0" rtlCol="0" anchor="ctr"/>
          <a:lstStyle/>
          <a:p>
            <a:pPr indent="0" marL="0">
              <a:buNone/>
            </a:pPr>
            <a:r>
              <a:rPr lang="en-US" sz="1600" b="1" dirty="0">
                <a:solidFill>
                  <a:srgbClr val="0F2540"/>
                </a:solidFill>
                <a:latin typeface="Cambria" pitchFamily="34" charset="0"/>
                <a:ea typeface="Cambria" pitchFamily="34" charset="-122"/>
                <a:cs typeface="Cambria" pitchFamily="34" charset="-120"/>
              </a:rPr>
              <a:t>Stay in scope</a:t>
            </a:r>
            <a:endParaRPr lang="en-US" sz="1600" dirty="0"/>
          </a:p>
        </p:txBody>
      </p:sp>
      <p:sp>
        <p:nvSpPr>
          <p:cNvPr id="13" name="Text 9"/>
          <p:cNvSpPr txBox="1"/>
          <p:nvPr/>
        </p:nvSpPr>
        <p:spPr>
          <a:xfrm>
            <a:off x="6537960" y="2286000"/>
            <a:ext cx="4846320" cy="379476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Scan only machines you own or have written permission to test.</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Use an isolated or host-only lab network.</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Never point nmap at school, work, home-router or public addresses for practice.</a:t>
            </a:r>
            <a:endParaRPr lang="en-US" sz="1550" dirty="0"/>
          </a:p>
          <a:p>
            <a:pPr marL="203200" indent="-203200">
              <a:lnSpc>
                <a:spcPct val="112000"/>
              </a:lnSpc>
              <a:spcAft>
                <a:spcPts val="1000"/>
              </a:spcAft>
              <a:buSzPct val="100000"/>
              <a:buChar char="▪"/>
            </a:pPr>
            <a:r>
              <a:rPr lang="en-US" sz="1550" dirty="0">
                <a:solidFill>
                  <a:srgbClr val="1A2733"/>
                </a:solidFill>
                <a:latin typeface="Calibri" pitchFamily="34" charset="0"/>
                <a:ea typeface="Calibri" pitchFamily="34" charset="-122"/>
                <a:cs typeface="Calibri" pitchFamily="34" charset="-120"/>
              </a:rPr>
              <a:t>Unauthorised scanning can break the law and your course rules.</a:t>
            </a:r>
            <a:endParaRPr lang="en-US" sz="1550" dirty="0"/>
          </a:p>
        </p:txBody>
      </p:sp>
      <p:sp>
        <p:nvSpPr>
          <p:cNvPr id="14" name="Text 10"/>
          <p:cNvSpPr txBox="1"/>
          <p:nvPr/>
        </p:nvSpPr>
        <p:spPr>
          <a:xfrm>
            <a:off x="457200" y="6519672"/>
            <a:ext cx="5486400" cy="274320"/>
          </a:xfrm>
          <a:prstGeom prst="rect">
            <a:avLst/>
          </a:prstGeom>
          <a:noFill/>
          <a:ln/>
        </p:spPr>
        <p:txBody>
          <a:bodyPr wrap="square" rtlCol="0" anchor="ctr"/>
          <a:lstStyle/>
          <a:p>
            <a:pPr algn="l" indent="0" marL="0">
              <a:buNone/>
            </a:pPr>
            <a:r>
              <a:rPr lang="en-US" sz="800" dirty="0">
                <a:solidFill>
                  <a:srgbClr val="5B6B7A"/>
                </a:solidFill>
                <a:latin typeface="Calibri" pitchFamily="34" charset="0"/>
                <a:ea typeface="Calibri" pitchFamily="34" charset="-122"/>
                <a:cs typeface="Calibri" pitchFamily="34" charset="-120"/>
              </a:rPr>
              <a:t>SOC ANALYST BOOTCAMP  ·  MODULE 4  ·  PORT-SCAN LAB</a:t>
            </a:r>
            <a:endParaRPr lang="en-US" sz="800" dirty="0"/>
          </a:p>
        </p:txBody>
      </p:sp>
      <p:sp>
        <p:nvSpPr>
          <p:cNvPr id="15" name="Text 11"/>
          <p:cNvSpPr txBox="1"/>
          <p:nvPr/>
        </p:nvSpPr>
        <p:spPr>
          <a:xfrm>
            <a:off x="6217920" y="6519672"/>
            <a:ext cx="5029200" cy="274320"/>
          </a:xfrm>
          <a:prstGeom prst="rect">
            <a:avLst/>
          </a:prstGeom>
          <a:noFill/>
          <a:ln/>
        </p:spPr>
        <p:txBody>
          <a:bodyPr wrap="square" rtlCol="0" anchor="ctr"/>
          <a:lstStyle/>
          <a:p>
            <a:pPr algn="r" indent="0" marL="0">
              <a:buNone/>
            </a:pPr>
            <a:r>
              <a:rPr lang="en-US" sz="800" dirty="0">
                <a:solidFill>
                  <a:srgbClr val="5B6B7A"/>
                </a:solidFill>
                <a:latin typeface="Calibri" pitchFamily="34" charset="0"/>
                <a:ea typeface="Calibri" pitchFamily="34" charset="-122"/>
                <a:cs typeface="Calibri" pitchFamily="34" charset="-120"/>
              </a:rPr>
              <a:t>WRAP-UP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SOC Analyst Bootcamp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 Port Scan with UFW Logs</dc:title>
  <dc:subject>Module 4 companion lab - Detecting a Port Scan with UFW Logs</dc:subject>
  <dc:creator>SOC Analyst Bootcamp</dc:creator>
  <cp:lastModifiedBy>SOC Analyst Bootcamp</cp:lastModifiedBy>
  <cp:revision>1</cp:revision>
  <dcterms:created xsi:type="dcterms:W3CDTF">2026-10-26T19:32:17Z</dcterms:created>
  <dcterms:modified xsi:type="dcterms:W3CDTF">2026-10-26T19:32:17Z</dcterms:modified>
</cp:coreProperties>
</file>